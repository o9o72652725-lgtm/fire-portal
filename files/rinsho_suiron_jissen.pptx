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2" r:id="rId4"/>
    <p:sldId id="282" r:id="rId5"/>
    <p:sldId id="299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78" r:id="rId16"/>
    <p:sldId id="280" r:id="rId17"/>
    <p:sldId id="292" r:id="rId18"/>
    <p:sldId id="281" r:id="rId19"/>
    <p:sldId id="279" r:id="rId20"/>
    <p:sldId id="293" r:id="rId21"/>
    <p:sldId id="294" r:id="rId22"/>
    <p:sldId id="296" r:id="rId23"/>
    <p:sldId id="297" r:id="rId24"/>
    <p:sldId id="298" r:id="rId25"/>
    <p:sldId id="301" r:id="rId26"/>
    <p:sldId id="302" r:id="rId27"/>
    <p:sldId id="303" r:id="rId28"/>
    <p:sldId id="300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6A24C-79D3-ADF0-FA39-2559333C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4A99FA-704D-E39F-FC8D-EF15C85A1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5BE23D-B67B-BE0E-CDCA-278861FE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8A2E0E-7E1D-C1FC-B354-C87C0178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A7ACCA-3AA5-A315-1518-F704FA13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99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628549-8787-6099-69D3-EBD85943615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B3EDDC-7CB0-07B8-3A01-41A26F74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965EE5-21CD-290D-C429-D389BD25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0F539-EBF3-82E7-2636-737FE61D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8A0EAB-53D1-A931-7970-130AA2B1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00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A7864-8AAC-6A02-0960-5313C185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3CFE9-84B4-849A-8DD0-EF704AE1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D4E381-B94E-55AD-62E6-85E33DF0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3035BC-6027-6E74-46FD-53D0C0F3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82E252-74FD-957D-5E4F-77512019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43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9EBC6D-21F4-D247-E820-ED592557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B639A-25C9-DBC2-A170-78E2D305C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F21FEE-6967-6192-4665-698C04CC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8FFCC8-9A60-8F0F-174E-60B37F78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E446B-B4F3-B8B1-DE19-AFCB20F1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044BF5-D877-63C3-D7F5-35FFAF40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285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9933-AC2D-BD07-F39C-4E9097B4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05544-F1A4-36C3-F229-358787064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97F827-0826-0337-9421-D8267DFE6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F08DF2-D958-408F-EE5D-04C84714B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5EAA89-073E-3FF3-7A93-4832BB46E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F979756-09A4-BD74-CED2-D993C9F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14961B-AB28-14D5-882A-9242C8E7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32BFCF-0447-E1A8-D831-46C36138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4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2440E-A832-E382-F0A1-85440B5A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E816A9-CA3C-1D54-3C0D-3A176B2A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71E956-35B1-AD28-625F-976B2DF8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3F512C-E6FF-BEB3-0C44-2725D3CE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66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C7FD9C-887A-9E91-5E2D-790E955D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558D84-3936-FE57-DC7B-7C24A25D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93ED8C-9016-EB4A-8969-36831D90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B80AE3-9E24-36C8-D144-F64841D3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F9148D-C6AB-51E9-21E8-79FEB017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48439C-D17B-7FEE-EA4C-0F636B3CA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D3216D-B9BB-0012-730E-3B208952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DE55F6-3771-41CC-D4D3-9107AB12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3AA921-2486-FE23-426A-80DCEB36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81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7C80D-D136-5A22-7AA1-6F98C013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92C93C-A56A-B469-21E5-ED7648814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1190E2-195A-9960-CC21-74B10F18E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6FDD16-8AF6-C70D-517B-624E62B1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C9C114-6DDE-28BE-F272-A26CE442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8EDF92-971A-8EBA-CF80-880B2183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97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DB7E00-3810-DF08-14DB-2A629173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770EAF-BEC7-686C-F540-E23E1DCD1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AAA6F-D3DA-CE0B-F033-549F8019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9632B-1C62-840B-477E-0BCA5581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F23C3B-1877-1749-63F9-C112EE91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79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03E4C7-3B0F-6AE4-4335-B8F21A87E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6D881F-B37E-BC33-FDCD-BFEA65847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A04566-BB0C-65A8-6B17-1731BB5B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DF5B16-13DE-9F28-4A62-C65DF686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C7059C-9042-36D9-98A6-9AA2F054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78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04046-CBC5-4549-0BEE-D72EED848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94F712-D496-270C-31C9-0BA26CA29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9EA9E6-4665-20D2-CC38-1F4483DB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43F4E2-5DE1-4482-DEC1-4F0D25FB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CC2135-EE10-12B1-8A20-1A0E7658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51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F93F0-6313-9D06-DF50-3ADFDD9B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577D8D-6EE3-0054-C2ED-2A6CD732B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490878-5DF9-D98A-5517-38465F68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0DD89A-B698-905D-32DA-29C31E03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D70C9F-2F64-EA60-2750-FAA0CCFE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00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2C482-B061-5BD0-A378-D92CB49B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209D88-71CE-F7DE-B5D2-946A28E0E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4EDFE2-21FD-5A0A-E70B-9A3D0E20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A9B3FB-43C9-F35C-AC9C-41FFC230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B40BD-02D6-EFE5-83D3-7C181E3F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26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B757A-12C9-185B-6A4B-3E43CCA4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A1BC0-A766-2CF8-8DF6-09B3FF80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7E4AA6-F089-51DA-3B75-F40DB2F7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1CBA87-AAAB-B179-B675-BA2BB0D2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88D3F5-65B6-8FE7-A540-03C2D4F2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3C5726-FE92-AC57-E151-50F80B00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02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854AF8-5419-CCBF-F115-C8870446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CA8CC8-4479-EF4C-DF8F-28BE65811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07A6A4-76E0-0149-5FC8-6E5BD096F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4B3DEF-7C33-FD87-ECC6-65DD6EF85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D8F49B-AFDE-7774-4053-C85C976E2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960181-970D-25D4-CF16-31220CDC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102B9C-00A7-B341-E89A-1DA84A26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7166F9-CD52-1637-439D-D8F5918E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905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020BA-1759-9C51-5AEA-8E06F97A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DCC76C-D27C-C8A6-F776-977A8776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B75BB3-FE99-0121-28F2-84B779E4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53FCDC-8EE8-92D0-4715-6561C09D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88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2B3299-CCFB-C11F-3F2C-8DCD48D2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C95106-5EAE-A8D6-1D54-589EB0AA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0D52B3-C003-BFA4-14BB-6D8B84CB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868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1C678-A5B1-A7DC-C3D7-13D2B8DF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46045A-443D-38C3-87EF-65DE65452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8AE853-46A6-38CB-F743-4D1FFFC4B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B9B746-9F39-6ABC-B9C8-BA11734E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7918CC-06B4-71E1-ACC5-6555523B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C09B2-C30E-7768-50AA-56138458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86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C8DCBB-6598-FFA9-457E-D9A71265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BEFB78-E661-92F4-E07D-42F5FBF48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FE2999-F11C-0C69-26BF-F1BA13287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DE0D56-321D-54E2-2E2F-5E757BB8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E5AEB9-0A71-3830-D22F-A9083512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5CB02B-F478-83D0-E5AC-083EEB0C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7742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E405A6-D4F7-B031-CA2F-65D5E1D0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43FB2E-7D60-7DE7-4956-FB9E511C3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02A77-772B-7E00-B4C0-6C7DCE6F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249CFA-EDD4-561B-9836-A2B62888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00E706-1775-8111-D7E8-DF57A07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318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2691FB-8732-EF64-7E1A-FA2F67315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193F5C-EB9A-4BFF-8AF9-99EE0CD3B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D628B-148C-B227-4F23-FE406029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C757D-06B7-6993-2823-B14F93F2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5C4C94-1576-312D-C6E2-AFF503D9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6538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85AB7-6329-9E03-C7DE-4149D83C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C3FE5C-D532-A3D7-221D-A604317E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0120F7-2D07-210D-FDC8-44E5AB73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D2D4D7-5FB3-9A97-4981-9A9E5B6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84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4FBEF6-2D6E-0ECB-7179-F3817B2D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33152C-4C58-37DE-AAFF-78B034A4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51DF00-3D5B-B14D-E9CB-249621C9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F83C1-7DF4-4336-8FCB-0C0C0EFB964A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B9A545-3027-5863-3D43-D544EF73F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7D1D42-6931-1BE3-6D78-E7E669484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5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6277A3-1204-05F9-380E-1631579C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954E2-8DDD-5D96-5FDA-AC6D1A49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E8E860-1638-FFA9-A217-69D603B93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0AE6E-1DF2-472F-BDDF-3AA331D50381}" type="datetimeFigureOut">
              <a:rPr kumimoji="1" lang="ja-JP" altLang="en-US" smtClean="0"/>
              <a:t>2023/12/3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9F675E-982F-F4DA-EB78-06C49C8DC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51F31-150B-02FD-30BD-E80A7D3C6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54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2887968-9681-C8BB-5EC6-1FC7ACADC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1711" y="5232899"/>
            <a:ext cx="2900289" cy="702676"/>
          </a:xfrm>
        </p:spPr>
        <p:txBody>
          <a:bodyPr/>
          <a:lstStyle/>
          <a:p>
            <a:r>
              <a:rPr kumimoji="1" lang="ja-JP" altLang="en-US" dirty="0"/>
              <a:t>中村　哲久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3E47AA-94F8-D78A-E6DF-2B41F6A9C550}"/>
              </a:ext>
            </a:extLst>
          </p:cNvPr>
          <p:cNvSpPr/>
          <p:nvPr/>
        </p:nvSpPr>
        <p:spPr>
          <a:xfrm>
            <a:off x="9113520" y="0"/>
            <a:ext cx="604911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075C01F-A54A-0D40-31BE-988806998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74275"/>
            <a:ext cx="12192000" cy="1435687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kumimoji="1" lang="ja-JP" altLang="en-US" sz="8000" b="1" spc="300" dirty="0"/>
              <a:t>救急臨床推論</a:t>
            </a:r>
            <a:r>
              <a:rPr kumimoji="1" lang="en-US" altLang="ja-JP" sz="8000" b="1" spc="300" dirty="0"/>
              <a:t>(</a:t>
            </a:r>
            <a:r>
              <a:rPr kumimoji="1" lang="ja-JP" altLang="en-US" sz="8000" b="1" spc="300" dirty="0"/>
              <a:t>実践編</a:t>
            </a:r>
            <a:r>
              <a:rPr kumimoji="1" lang="en-US" altLang="ja-JP" sz="8000" b="1" spc="300" dirty="0"/>
              <a:t>)</a:t>
            </a:r>
            <a:endParaRPr kumimoji="1" lang="ja-JP" altLang="en-US" sz="8000" b="1" spc="300" dirty="0"/>
          </a:p>
        </p:txBody>
      </p:sp>
    </p:spTree>
    <p:extLst>
      <p:ext uri="{BB962C8B-B14F-4D97-AF65-F5344CB8AC3E}">
        <p14:creationId xmlns:p14="http://schemas.microsoft.com/office/powerpoint/2010/main" val="198973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臨床推論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sz="3600" dirty="0"/>
              <a:t>臨床推論あるいは診断推論</a:t>
            </a:r>
            <a:endParaRPr kumimoji="1" lang="en-US" altLang="ja-JP" sz="3600" dirty="0"/>
          </a:p>
          <a:p>
            <a:r>
              <a:rPr lang="ja-JP" altLang="en-US" sz="3600" dirty="0"/>
              <a:t>診断学、症候学に基づいて鑑別診断を進める</a:t>
            </a:r>
            <a:endParaRPr lang="en-US" altLang="ja-JP" sz="3600" dirty="0"/>
          </a:p>
          <a:p>
            <a:r>
              <a:rPr kumimoji="1" lang="ja-JP" altLang="en-US" sz="3600" dirty="0"/>
              <a:t>診断学：主に問診</a:t>
            </a:r>
            <a:r>
              <a:rPr kumimoji="1" lang="en-US" altLang="ja-JP" sz="3600" dirty="0"/>
              <a:t>(</a:t>
            </a:r>
            <a:r>
              <a:rPr kumimoji="1" lang="ja-JP" altLang="en-US" sz="3600" dirty="0"/>
              <a:t>主訴、現病歴、既往歴</a:t>
            </a:r>
            <a:r>
              <a:rPr kumimoji="1" lang="en-US" altLang="ja-JP" sz="3600" dirty="0"/>
              <a:t>)</a:t>
            </a:r>
            <a:r>
              <a:rPr kumimoji="1" lang="ja-JP" altLang="en-US" sz="3600" dirty="0"/>
              <a:t>から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  鑑別診断を行う</a:t>
            </a:r>
            <a:endParaRPr kumimoji="1" lang="en-US" altLang="ja-JP" sz="3600" dirty="0"/>
          </a:p>
          <a:p>
            <a:r>
              <a:rPr lang="ja-JP" altLang="en-US" sz="3600" dirty="0"/>
              <a:t>症候学：主に診察</a:t>
            </a:r>
            <a:r>
              <a:rPr lang="en-US" altLang="ja-JP" sz="3600" dirty="0"/>
              <a:t>(</a:t>
            </a:r>
            <a:r>
              <a:rPr lang="ja-JP" altLang="en-US" sz="3600" dirty="0"/>
              <a:t>視診、触診、聴診、打診</a:t>
            </a:r>
            <a:r>
              <a:rPr lang="en-US" altLang="ja-JP" sz="3600" dirty="0"/>
              <a:t>)</a:t>
            </a:r>
            <a:r>
              <a:rPr lang="ja-JP" altLang="en-US" sz="3600" dirty="0"/>
              <a:t>から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  </a:t>
            </a:r>
            <a:r>
              <a:rPr lang="ja-JP" altLang="en-US" sz="3600" dirty="0"/>
              <a:t>鑑別診断を行う</a:t>
            </a:r>
            <a:endParaRPr lang="en-US" altLang="ja-JP" sz="3600" dirty="0"/>
          </a:p>
          <a:p>
            <a:r>
              <a:rPr kumimoji="1" lang="ja-JP" altLang="en-US" sz="3600" dirty="0"/>
              <a:t>日常診療の診断で</a:t>
            </a:r>
            <a:r>
              <a:rPr kumimoji="1" lang="en-US" altLang="ja-JP" sz="3600" dirty="0"/>
              <a:t>7</a:t>
            </a:r>
            <a:r>
              <a:rPr kumimoji="1" lang="ja-JP" altLang="en-US" sz="3600" dirty="0"/>
              <a:t>割は病歴で可能</a:t>
            </a:r>
          </a:p>
        </p:txBody>
      </p:sp>
    </p:spTree>
    <p:extLst>
      <p:ext uri="{BB962C8B-B14F-4D97-AF65-F5344CB8AC3E}">
        <p14:creationId xmlns:p14="http://schemas.microsoft.com/office/powerpoint/2010/main" val="16721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6608E2-5210-D481-147C-DCD2BBC1D6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48" y="1844675"/>
            <a:ext cx="3105150" cy="44497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C6553D3-A86A-B332-5A70-BC0F4FCF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1844675"/>
            <a:ext cx="1809750" cy="26495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14C10BB-6CB1-7BCD-B3D8-0A4F83102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25" y="1844675"/>
            <a:ext cx="1862138" cy="264953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54A0A69-5FCD-8354-66CB-E4D6C711E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4564063"/>
            <a:ext cx="1195388" cy="173196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5605A0F-180D-5282-9A88-CADEEB3F1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463" y="4564063"/>
            <a:ext cx="1203325" cy="173196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9DDAD2D-693D-DC8D-35EC-CE2F1DBFA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225" y="4564063"/>
            <a:ext cx="1203325" cy="173196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36E0BB1-C564-61B9-CBDD-D6F1D42505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225" y="1844675"/>
            <a:ext cx="3122613" cy="444976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D10D971-AAF9-7683-A3E2-40400371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5200" kern="1200" dirty="0">
                <a:latin typeface="+mj-lt"/>
                <a:ea typeface="+mj-ea"/>
                <a:cs typeface="+mj-cs"/>
              </a:rPr>
              <a:t>病院前救護の標準化</a:t>
            </a:r>
            <a:endParaRPr kumimoji="1" lang="en-US" altLang="ja-JP" sz="5200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674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r>
              <a:rPr lang="ja-JP" altLang="en-US" dirty="0"/>
              <a:t>　　</a:t>
            </a:r>
            <a:r>
              <a:rPr lang="en-US" altLang="ja-JP" dirty="0"/>
              <a:t>PEMEC</a:t>
            </a:r>
            <a:endParaRPr kumimoji="1" lang="ja-JP" altLang="en-US" dirty="0"/>
          </a:p>
        </p:txBody>
      </p:sp>
      <p:pic>
        <p:nvPicPr>
          <p:cNvPr id="1026" name="Picture 2" descr="画像">
            <a:extLst>
              <a:ext uri="{FF2B5EF4-FFF2-40B4-BE49-F238E27FC236}">
                <a16:creationId xmlns:a16="http://schemas.microsoft.com/office/drawing/2014/main" id="{01575067-2C56-C022-4FAD-601EDE3339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416" y="65580"/>
            <a:ext cx="6966585" cy="67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0C5F65-ED6B-CF43-7E5C-C60428AE454A}"/>
              </a:ext>
            </a:extLst>
          </p:cNvPr>
          <p:cNvSpPr/>
          <p:nvPr/>
        </p:nvSpPr>
        <p:spPr>
          <a:xfrm>
            <a:off x="6925456" y="1124262"/>
            <a:ext cx="3087974" cy="7195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0FB9F44-640F-B656-3976-DB74C61A14FD}"/>
              </a:ext>
            </a:extLst>
          </p:cNvPr>
          <p:cNvSpPr/>
          <p:nvPr/>
        </p:nvSpPr>
        <p:spPr>
          <a:xfrm>
            <a:off x="6658131" y="3271603"/>
            <a:ext cx="3685082" cy="11954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8AB4C4-59ED-5FC8-D53D-DFC70CAEA15C}"/>
              </a:ext>
            </a:extLst>
          </p:cNvPr>
          <p:cNvSpPr txBox="1"/>
          <p:nvPr/>
        </p:nvSpPr>
        <p:spPr>
          <a:xfrm>
            <a:off x="104931" y="2803161"/>
            <a:ext cx="51204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早い段階で</a:t>
            </a:r>
            <a:endParaRPr kumimoji="1" lang="en-US" altLang="ja-JP" sz="4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ファーストコール</a:t>
            </a:r>
          </a:p>
        </p:txBody>
      </p:sp>
    </p:spTree>
    <p:extLst>
      <p:ext uri="{BB962C8B-B14F-4D97-AF65-F5344CB8AC3E}">
        <p14:creationId xmlns:p14="http://schemas.microsoft.com/office/powerpoint/2010/main" val="93627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出場～現着まで　</a:t>
            </a:r>
            <a:r>
              <a:rPr kumimoji="1" lang="en-US" altLang="ja-JP" dirty="0"/>
              <a:t>STEP</a:t>
            </a:r>
            <a:r>
              <a:rPr kumimoji="1" lang="ja-JP" altLang="en-US" dirty="0"/>
              <a:t>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通報内容から病態を</a:t>
            </a:r>
            <a:r>
              <a:rPr lang="en-US" altLang="ja-JP" sz="3600" dirty="0"/>
              <a:t>3</a:t>
            </a:r>
            <a:r>
              <a:rPr lang="ja-JP" altLang="en-US" sz="3600" dirty="0"/>
              <a:t>つ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くらい上げる。</a:t>
            </a:r>
            <a:endParaRPr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例：通報内容　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胸痛⇒</a:t>
            </a:r>
            <a:r>
              <a:rPr kumimoji="1" lang="en-US" altLang="ja-JP" sz="3600" dirty="0"/>
              <a:t>AMI</a:t>
            </a:r>
            <a:r>
              <a:rPr kumimoji="1" lang="ja-JP" altLang="en-US" sz="3600" dirty="0"/>
              <a:t> </a:t>
            </a:r>
            <a:r>
              <a:rPr kumimoji="1" lang="en-US" altLang="ja-JP" sz="3600" dirty="0"/>
              <a:t>(</a:t>
            </a:r>
            <a:r>
              <a:rPr kumimoji="1" lang="ja-JP" altLang="en-US" sz="3600" dirty="0"/>
              <a:t>循環器系</a:t>
            </a:r>
            <a:r>
              <a:rPr kumimoji="1" lang="en-US" altLang="ja-JP" sz="3600" dirty="0"/>
              <a:t>)</a:t>
            </a:r>
            <a:r>
              <a:rPr kumimoji="1" lang="ja-JP" altLang="en-US" sz="3600" dirty="0"/>
              <a:t>胃潰瘍</a:t>
            </a:r>
            <a:r>
              <a:rPr kumimoji="1" lang="en-US" altLang="ja-JP" sz="3600" dirty="0"/>
              <a:t>(</a:t>
            </a:r>
            <a:r>
              <a:rPr kumimoji="1" lang="ja-JP" altLang="en-US" sz="3600" dirty="0"/>
              <a:t>消化器系</a:t>
            </a:r>
            <a:r>
              <a:rPr kumimoji="1" lang="en-US" altLang="ja-JP" sz="3600" dirty="0"/>
              <a:t>)</a:t>
            </a:r>
            <a:r>
              <a:rPr kumimoji="1" lang="ja-JP" altLang="en-US" sz="3600" dirty="0"/>
              <a:t>肺炎</a:t>
            </a:r>
            <a:r>
              <a:rPr lang="en-US" altLang="ja-JP" sz="3600" dirty="0"/>
              <a:t>(</a:t>
            </a:r>
            <a:r>
              <a:rPr kumimoji="1" lang="ja-JP" altLang="en-US" sz="3600" dirty="0"/>
              <a:t>呼吸器系</a:t>
            </a:r>
            <a:r>
              <a:rPr kumimoji="1" lang="en-US" altLang="ja-JP" sz="3600" dirty="0"/>
              <a:t>)</a:t>
            </a:r>
          </a:p>
          <a:p>
            <a:pPr marL="0" indent="0">
              <a:buNone/>
            </a:pPr>
            <a:r>
              <a:rPr kumimoji="1" lang="ja-JP" altLang="en-US" sz="3600" dirty="0"/>
              <a:t>本当だったら困る疾患、よくある疾患、まれだけどあったら困る疾患</a:t>
            </a:r>
            <a:endParaRPr kumimoji="1" lang="en-US" altLang="ja-JP" sz="3600" dirty="0"/>
          </a:p>
        </p:txBody>
      </p:sp>
      <p:pic>
        <p:nvPicPr>
          <p:cNvPr id="6" name="Picture 2" descr="画像">
            <a:extLst>
              <a:ext uri="{FF2B5EF4-FFF2-40B4-BE49-F238E27FC236}">
                <a16:creationId xmlns:a16="http://schemas.microsoft.com/office/drawing/2014/main" id="{D9866A25-1A24-D78A-4467-67F93B4854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5045533" y="1787887"/>
            <a:ext cx="6966585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5AABD3-F4CC-744C-0609-19347B9242E6}"/>
              </a:ext>
            </a:extLst>
          </p:cNvPr>
          <p:cNvSpPr txBox="1"/>
          <p:nvPr/>
        </p:nvSpPr>
        <p:spPr>
          <a:xfrm>
            <a:off x="2" y="4156705"/>
            <a:ext cx="12191998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ハイリスク症候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内因性ロード＆ゴーを考慮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9B3F5C-A99C-524E-FE58-46937C21B35E}"/>
              </a:ext>
            </a:extLst>
          </p:cNvPr>
          <p:cNvSpPr/>
          <p:nvPr/>
        </p:nvSpPr>
        <p:spPr>
          <a:xfrm>
            <a:off x="6760565" y="1825624"/>
            <a:ext cx="3087974" cy="7195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4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出場～現着まで　</a:t>
            </a:r>
            <a:r>
              <a:rPr lang="en-US" altLang="ja-JP" dirty="0"/>
              <a:t>STEP</a:t>
            </a:r>
            <a:r>
              <a:rPr lang="ja-JP" altLang="en-US" dirty="0"/>
              <a:t>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5032375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考えられる疾患を考えたら・・・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lang="ja-JP" altLang="en-US" sz="3600" dirty="0"/>
              <a:t>感染防護衣の確認（</a:t>
            </a:r>
            <a:r>
              <a:rPr lang="en-US" altLang="ja-JP" sz="3600" dirty="0"/>
              <a:t>PPE</a:t>
            </a:r>
            <a:r>
              <a:rPr lang="ja-JP" altLang="en-US" sz="3600" dirty="0"/>
              <a:t>の再確認）</a:t>
            </a:r>
            <a:endParaRPr lang="en-US" altLang="ja-JP" sz="3600" dirty="0"/>
          </a:p>
          <a:p>
            <a:r>
              <a:rPr lang="ja-JP" altLang="en-US" sz="3600" dirty="0"/>
              <a:t>増隊は？（</a:t>
            </a:r>
            <a:r>
              <a:rPr lang="en-US" altLang="ja-JP" sz="3600" dirty="0"/>
              <a:t>PA</a:t>
            </a:r>
            <a:r>
              <a:rPr lang="ja-JP" altLang="en-US" sz="3600" dirty="0"/>
              <a:t>？</a:t>
            </a:r>
            <a:r>
              <a:rPr lang="en-US" altLang="ja-JP" sz="3600" dirty="0"/>
              <a:t>Dr</a:t>
            </a:r>
            <a:r>
              <a:rPr lang="ja-JP" altLang="en-US" sz="3600" dirty="0"/>
              <a:t>カー</a:t>
            </a:r>
            <a:r>
              <a:rPr lang="en-US" altLang="ja-JP" sz="3600" dirty="0"/>
              <a:t>or</a:t>
            </a:r>
            <a:r>
              <a:rPr lang="ja-JP" altLang="en-US" sz="3600" dirty="0"/>
              <a:t>ヘリ）</a:t>
            </a:r>
            <a:endParaRPr lang="en-US" altLang="ja-JP" sz="3600" dirty="0"/>
          </a:p>
          <a:p>
            <a:r>
              <a:rPr lang="ja-JP" altLang="en-US" sz="3600" dirty="0"/>
              <a:t>現場にもっていく資機材は？</a:t>
            </a:r>
            <a:endParaRPr lang="en-US" altLang="ja-JP" sz="3600" dirty="0"/>
          </a:p>
          <a:p>
            <a:r>
              <a:rPr lang="ja-JP" altLang="en-US" sz="3600" dirty="0"/>
              <a:t>医療機関はどこに搬送する可能性があるのか？</a:t>
            </a: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F58065B0-48FF-82E9-A58E-B2127386D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760565" y="1787887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4D8910A-6045-5577-569A-CF6F589C9216}"/>
              </a:ext>
            </a:extLst>
          </p:cNvPr>
          <p:cNvSpPr/>
          <p:nvPr/>
        </p:nvSpPr>
        <p:spPr>
          <a:xfrm>
            <a:off x="8109679" y="1787886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19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現着～傷病者接触まで　</a:t>
            </a:r>
            <a:r>
              <a:rPr kumimoji="1" lang="en-US" altLang="ja-JP" dirty="0"/>
              <a:t>STEP</a:t>
            </a:r>
            <a:r>
              <a:rPr lang="ja-JP" altLang="en-US" dirty="0"/>
              <a:t>１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solidFill>
                  <a:srgbClr val="92D050"/>
                </a:solidFill>
              </a:rPr>
              <a:t>何はともあれ現場の安全確認　３</a:t>
            </a:r>
            <a:r>
              <a:rPr lang="en-US" altLang="ja-JP" sz="3600" dirty="0">
                <a:solidFill>
                  <a:srgbClr val="92D050"/>
                </a:solidFill>
              </a:rPr>
              <a:t>S</a:t>
            </a:r>
          </a:p>
          <a:p>
            <a:pPr marL="0" indent="0">
              <a:buNone/>
            </a:pPr>
            <a:r>
              <a:rPr lang="ja-JP" altLang="en-US" sz="3600" dirty="0"/>
              <a:t>　異臭は？（</a:t>
            </a:r>
            <a:r>
              <a:rPr lang="en-US" altLang="ja-JP" sz="3600" dirty="0"/>
              <a:t>CO</a:t>
            </a:r>
            <a:r>
              <a:rPr lang="ja-JP" altLang="en-US" sz="3600" dirty="0"/>
              <a:t>中毒</a:t>
            </a:r>
            <a:r>
              <a:rPr lang="en-US" altLang="ja-JP" sz="3600" dirty="0" err="1"/>
              <a:t>etc</a:t>
            </a:r>
            <a:r>
              <a:rPr lang="ja-JP" altLang="en-US" sz="3600" dirty="0"/>
              <a:t>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部屋は散らかってる？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（生活環境の確認、薬剤の大量服用の確認）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犬とかいない？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凶器はない？</a:t>
            </a: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66787FEC-423A-B307-B37B-B1E710F06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775556" y="2548978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EF8F2E-6F68-1B49-0668-5C6C918C0CD8}"/>
              </a:ext>
            </a:extLst>
          </p:cNvPr>
          <p:cNvSpPr/>
          <p:nvPr/>
        </p:nvSpPr>
        <p:spPr>
          <a:xfrm>
            <a:off x="8079699" y="2592451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27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F53964A7-1188-FF49-996E-94560AB2A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940447" y="2758840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現着～傷病者接触まで　</a:t>
            </a:r>
            <a:r>
              <a:rPr lang="en-US" altLang="ja-JP" dirty="0"/>
              <a:t>STEP</a:t>
            </a:r>
            <a:r>
              <a:rPr lang="ja-JP" altLang="en-US" dirty="0"/>
              <a:t>１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傷病者は１人？多数症のスイッチはいらない？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⇒多数症なら多数傷プロトコル</a:t>
            </a:r>
            <a:r>
              <a:rPr lang="en-US" altLang="ja-JP" sz="3600" dirty="0">
                <a:solidFill>
                  <a:srgbClr val="00B050"/>
                </a:solidFill>
              </a:rPr>
              <a:t>(MCLS)</a:t>
            </a:r>
          </a:p>
          <a:p>
            <a:r>
              <a:rPr lang="ja-JP" altLang="en-US" sz="3600" dirty="0"/>
              <a:t>外傷はない？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⇒交通外傷、労災、一般負傷（</a:t>
            </a:r>
            <a:r>
              <a:rPr lang="en-US" altLang="ja-JP" sz="3600" dirty="0"/>
              <a:t>JPTEC</a:t>
            </a:r>
            <a:r>
              <a:rPr lang="ja-JP" altLang="en-US" sz="3600" dirty="0"/>
              <a:t>）</a:t>
            </a:r>
            <a:endParaRPr lang="en-US" altLang="ja-JP" sz="3600" dirty="0"/>
          </a:p>
          <a:p>
            <a:r>
              <a:rPr lang="ja-JP" altLang="en-US" sz="3600" dirty="0"/>
              <a:t>多数症でも外傷でもなさそうだ。</a:t>
            </a:r>
            <a:endParaRPr lang="en-US" altLang="ja-JP" sz="3600" dirty="0"/>
          </a:p>
          <a:p>
            <a:r>
              <a:rPr lang="ja-JP" altLang="en-US" sz="3600" dirty="0"/>
              <a:t>傷病者に近づこう！！</a:t>
            </a:r>
            <a:endParaRPr lang="en-US" altLang="ja-JP" sz="36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539F1B9-2528-A6B2-98DC-896BD17B0629}"/>
              </a:ext>
            </a:extLst>
          </p:cNvPr>
          <p:cNvSpPr/>
          <p:nvPr/>
        </p:nvSpPr>
        <p:spPr>
          <a:xfrm>
            <a:off x="8259581" y="2758840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2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現着～傷病者接触まで　</a:t>
            </a:r>
            <a:r>
              <a:rPr lang="en-US" altLang="ja-JP" dirty="0"/>
              <a:t>STEP2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sz="3600" dirty="0"/>
              <a:t>傷病者にいきなり声をかけるのは</a:t>
            </a:r>
            <a:r>
              <a:rPr lang="en-US" altLang="ja-JP" sz="3600" dirty="0"/>
              <a:t>NG</a:t>
            </a:r>
          </a:p>
          <a:p>
            <a:pPr marL="0" indent="0">
              <a:buNone/>
            </a:pPr>
            <a:r>
              <a:rPr lang="ja-JP" altLang="en-US" sz="3600" dirty="0"/>
              <a:t>　傷病者の意識レベルは</a:t>
            </a:r>
            <a:r>
              <a:rPr lang="en-US" altLang="ja-JP" sz="3600" dirty="0"/>
              <a:t>AVPU</a:t>
            </a:r>
            <a:r>
              <a:rPr lang="ja-JP" altLang="en-US" sz="3600" dirty="0"/>
              <a:t>でどうか？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意識レベルは３ステップ法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まずは開眼してるか見る。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次に声をかけてみる。ここで開眼なら</a:t>
            </a:r>
            <a:r>
              <a:rPr lang="en-US" altLang="ja-JP" sz="3600" dirty="0"/>
              <a:t>V</a:t>
            </a:r>
            <a:r>
              <a:rPr lang="ja-JP" altLang="en-US" sz="3600" dirty="0"/>
              <a:t>もしくは</a:t>
            </a:r>
            <a:r>
              <a:rPr lang="en-US" altLang="ja-JP" sz="3600" dirty="0"/>
              <a:t>JCS10</a:t>
            </a:r>
          </a:p>
          <a:p>
            <a:pPr marL="0" indent="0">
              <a:buNone/>
            </a:pPr>
            <a:r>
              <a:rPr lang="ja-JP" altLang="en-US" sz="3600" dirty="0"/>
              <a:t>　声掛けで開眼しない・・しょうがないから圧迫刺激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</a:t>
            </a:r>
            <a:r>
              <a:rPr lang="en-US" altLang="ja-JP" sz="3600" dirty="0"/>
              <a:t>P</a:t>
            </a:r>
            <a:r>
              <a:rPr lang="ja-JP" altLang="en-US" sz="3600" dirty="0"/>
              <a:t>、</a:t>
            </a:r>
            <a:r>
              <a:rPr lang="en-US" altLang="ja-JP" sz="3600" dirty="0"/>
              <a:t>U</a:t>
            </a:r>
            <a:r>
              <a:rPr lang="ja-JP" altLang="en-US" sz="3600" dirty="0"/>
              <a:t>もしくは</a:t>
            </a:r>
            <a:r>
              <a:rPr lang="en-US" altLang="ja-JP" sz="3600" dirty="0" err="1"/>
              <a:t>JCSⅡ</a:t>
            </a:r>
            <a:r>
              <a:rPr lang="ja-JP" altLang="en-US" sz="3600" dirty="0"/>
              <a:t>桁～</a:t>
            </a:r>
            <a:r>
              <a:rPr lang="en-US" altLang="ja-JP" sz="3600" dirty="0"/>
              <a:t>Ⅲ</a:t>
            </a:r>
            <a:r>
              <a:rPr lang="ja-JP" altLang="en-US" sz="3600" dirty="0"/>
              <a:t>桁</a:t>
            </a: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A0D37710-3329-7A4F-C376-E04B4A7228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6820525" y="2968702"/>
            <a:ext cx="5251553" cy="17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A3E0A0F-6F4C-14FD-EDF8-CDB1E5BD0856}"/>
              </a:ext>
            </a:extLst>
          </p:cNvPr>
          <p:cNvSpPr/>
          <p:nvPr/>
        </p:nvSpPr>
        <p:spPr>
          <a:xfrm>
            <a:off x="8139660" y="3969085"/>
            <a:ext cx="2293496" cy="74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75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現着～傷病者接触まで　</a:t>
            </a:r>
            <a:r>
              <a:rPr lang="en-US" altLang="ja-JP" dirty="0"/>
              <a:t>STEP2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sz="3600" dirty="0"/>
              <a:t>傷病者にいきなり声をかけるのは</a:t>
            </a:r>
            <a:r>
              <a:rPr lang="en-US" altLang="ja-JP" sz="3600" dirty="0"/>
              <a:t>NG</a:t>
            </a:r>
          </a:p>
          <a:p>
            <a:pPr marL="0" indent="0">
              <a:buNone/>
            </a:pPr>
            <a:r>
              <a:rPr lang="ja-JP" altLang="en-US" sz="3600" dirty="0"/>
              <a:t>　傷病者の姿勢はどうか？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坐位？起坐呼吸？⇒</a:t>
            </a:r>
            <a:r>
              <a:rPr lang="en-US" altLang="ja-JP" sz="3600" dirty="0"/>
              <a:t>CPA</a:t>
            </a:r>
            <a:r>
              <a:rPr lang="ja-JP" altLang="en-US" sz="3600" dirty="0"/>
              <a:t>ではないかな。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ショック、呼吸不全かも。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顔色は？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呼吸様式は？明らかにおおきな呼吸（クスマウルの呼吸）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嘔吐痕や失禁、出血は？（意識消失や外傷の確認）</a:t>
            </a: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59F2A885-67EF-1BC1-C529-1BB360D894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8"/>
          <a:stretch/>
        </p:blipFill>
        <p:spPr bwMode="auto">
          <a:xfrm>
            <a:off x="7922504" y="2713219"/>
            <a:ext cx="4269495" cy="214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F34CBA-1776-8649-2F13-611792F2534B}"/>
              </a:ext>
            </a:extLst>
          </p:cNvPr>
          <p:cNvSpPr/>
          <p:nvPr/>
        </p:nvSpPr>
        <p:spPr>
          <a:xfrm>
            <a:off x="8994097" y="3969085"/>
            <a:ext cx="1873771" cy="8877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311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初期評価　</a:t>
            </a:r>
            <a:r>
              <a:rPr lang="en-US" altLang="ja-JP" dirty="0"/>
              <a:t>STEP</a:t>
            </a:r>
            <a:r>
              <a:rPr lang="ja-JP" altLang="en-US" dirty="0"/>
              <a:t>２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600" dirty="0"/>
              <a:t>ABCD</a:t>
            </a:r>
          </a:p>
          <a:p>
            <a:r>
              <a:rPr lang="en-US" altLang="ja-JP" sz="3600" dirty="0"/>
              <a:t>A</a:t>
            </a:r>
            <a:r>
              <a:rPr lang="ja-JP" altLang="en-US" sz="3600" dirty="0"/>
              <a:t>・・気道の確認及び処置</a:t>
            </a:r>
            <a:r>
              <a:rPr lang="en-US" altLang="ja-JP" sz="3600" dirty="0"/>
              <a:t>(</a:t>
            </a:r>
            <a:r>
              <a:rPr lang="ja-JP" altLang="en-US" sz="3600" dirty="0"/>
              <a:t>気道確保、吸引、エアウェイ</a:t>
            </a:r>
            <a:r>
              <a:rPr lang="en-US" altLang="ja-JP" sz="3600" dirty="0"/>
              <a:t>)</a:t>
            </a:r>
          </a:p>
          <a:p>
            <a:r>
              <a:rPr lang="en-US" altLang="ja-JP" sz="3600" dirty="0"/>
              <a:t>B</a:t>
            </a:r>
            <a:r>
              <a:rPr lang="ja-JP" altLang="en-US" sz="3600" dirty="0"/>
              <a:t>・・呼吸数の確認及び処置</a:t>
            </a:r>
            <a:r>
              <a:rPr lang="en-US" altLang="ja-JP" sz="3600" dirty="0"/>
              <a:t>(</a:t>
            </a:r>
            <a:r>
              <a:rPr lang="ja-JP" altLang="en-US" sz="3600" dirty="0"/>
              <a:t>酸素、バックバルブマスク</a:t>
            </a:r>
            <a:r>
              <a:rPr lang="en-US" altLang="ja-JP" sz="3600" dirty="0"/>
              <a:t>)</a:t>
            </a:r>
          </a:p>
          <a:p>
            <a:r>
              <a:rPr lang="en-US" altLang="ja-JP" sz="3600" dirty="0"/>
              <a:t>C</a:t>
            </a:r>
            <a:r>
              <a:rPr lang="ja-JP" altLang="en-US" sz="3600" dirty="0"/>
              <a:t>・・循環の確認及び処置（止血）</a:t>
            </a:r>
            <a:endParaRPr lang="en-US" altLang="ja-JP" sz="3600" dirty="0"/>
          </a:p>
          <a:p>
            <a:r>
              <a:rPr lang="en-US" altLang="ja-JP" sz="3600" dirty="0"/>
              <a:t>D</a:t>
            </a:r>
            <a:r>
              <a:rPr lang="ja-JP" altLang="en-US" sz="3600" dirty="0"/>
              <a:t>・・意識障害の有無</a:t>
            </a:r>
            <a:endParaRPr lang="en-US" altLang="ja-JP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ED4760-54B0-1F37-9D89-4356FD91AD01}"/>
              </a:ext>
            </a:extLst>
          </p:cNvPr>
          <p:cNvSpPr txBox="1"/>
          <p:nvPr/>
        </p:nvSpPr>
        <p:spPr>
          <a:xfrm>
            <a:off x="2" y="3429000"/>
            <a:ext cx="12191998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内因性ロード＆ゴー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観察基準表</a:t>
            </a:r>
            <a:r>
              <a:rPr kumimoji="1" lang="en-US" altLang="ja-JP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lang="en-US" altLang="ja-JP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,</a:t>
            </a:r>
            <a:r>
              <a:rPr kumimoji="1" lang="en-US" altLang="ja-JP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endParaRPr kumimoji="1" lang="ja-JP" altLang="en-US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627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初期評価　</a:t>
            </a:r>
            <a:r>
              <a:rPr lang="en-US" altLang="ja-JP" dirty="0"/>
              <a:t>STEP2</a:t>
            </a:r>
            <a:r>
              <a:rPr lang="ja-JP" altLang="en-US" dirty="0"/>
              <a:t>→</a:t>
            </a:r>
            <a:r>
              <a:rPr lang="en-US" altLang="ja-JP" dirty="0"/>
              <a:t>6</a:t>
            </a:r>
            <a:r>
              <a:rPr kumimoji="1" lang="ja-JP" altLang="en-US" dirty="0"/>
              <a:t>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内因性ロード＆ゴーなら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最低限の処置やってファーストコール！！！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地域事情は分かるけど、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内因性ロード＆ゴーの病院は限られる。住所やら生年月日なんて後回し。情報は病着時までにまとまってればいい。必要な情報はセカンドコールで十分。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02877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915579"/>
            <a:ext cx="1219199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/>
              <a:t>もちろん、時間の許す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限り情報収集とバイタル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測定は必要。</a:t>
            </a:r>
            <a:endParaRPr lang="en-US" altLang="ja-JP" sz="3600" dirty="0"/>
          </a:p>
          <a:p>
            <a:pPr marL="0" indent="0">
              <a:buNone/>
            </a:pP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情報収集は何を聞けば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いい？</a:t>
            </a:r>
            <a:endParaRPr lang="en-US" altLang="ja-JP" sz="3600" dirty="0"/>
          </a:p>
          <a:p>
            <a:pPr marL="0" indent="0">
              <a:buNone/>
            </a:pPr>
            <a:endParaRPr lang="en-US" altLang="ja-JP" sz="36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CFA200D2-5DF6-A221-EA8C-7DFBC8DE8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5" b="7724"/>
          <a:stretch/>
        </p:blipFill>
        <p:spPr bwMode="auto">
          <a:xfrm>
            <a:off x="5225416" y="1394072"/>
            <a:ext cx="6966584" cy="546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154"/>
            <a:ext cx="12192000" cy="1325563"/>
          </a:xfrm>
          <a:solidFill>
            <a:srgbClr val="92D050"/>
          </a:solidFill>
        </p:spPr>
        <p:txBody>
          <a:bodyPr/>
          <a:lstStyle/>
          <a:p>
            <a:r>
              <a:rPr lang="ja-JP" altLang="en-US" dirty="0"/>
              <a:t>初期評価　</a:t>
            </a:r>
            <a:r>
              <a:rPr lang="en-US" altLang="ja-JP" dirty="0"/>
              <a:t>STEP2</a:t>
            </a:r>
            <a:r>
              <a:rPr lang="ja-JP" altLang="en-US" dirty="0"/>
              <a:t>→</a:t>
            </a:r>
            <a:r>
              <a:rPr lang="en-US" altLang="ja-JP" dirty="0"/>
              <a:t>6</a:t>
            </a:r>
            <a:r>
              <a:rPr kumimoji="1" lang="ja-JP" altLang="en-US" dirty="0"/>
              <a:t>　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FDCA53-7588-747F-7F2A-8EAD2EAA6239}"/>
              </a:ext>
            </a:extLst>
          </p:cNvPr>
          <p:cNvSpPr/>
          <p:nvPr/>
        </p:nvSpPr>
        <p:spPr>
          <a:xfrm>
            <a:off x="6940446" y="1645717"/>
            <a:ext cx="3087974" cy="7195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721C1D68-DAA3-EF73-9735-341DC4A5C637}"/>
              </a:ext>
            </a:extLst>
          </p:cNvPr>
          <p:cNvSpPr/>
          <p:nvPr/>
        </p:nvSpPr>
        <p:spPr>
          <a:xfrm>
            <a:off x="5876144" y="2113613"/>
            <a:ext cx="1064302" cy="4527030"/>
          </a:xfrm>
          <a:custGeom>
            <a:avLst/>
            <a:gdLst>
              <a:gd name="connsiteX0" fmla="*/ 1064302 w 1064302"/>
              <a:gd name="connsiteY0" fmla="*/ 0 h 4527030"/>
              <a:gd name="connsiteX1" fmla="*/ 14990 w 1064302"/>
              <a:gd name="connsiteY1" fmla="*/ 44971 h 4527030"/>
              <a:gd name="connsiteX2" fmla="*/ 0 w 1064302"/>
              <a:gd name="connsiteY2" fmla="*/ 4527030 h 4527030"/>
              <a:gd name="connsiteX3" fmla="*/ 929390 w 1064302"/>
              <a:gd name="connsiteY3" fmla="*/ 4497049 h 452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4302" h="4527030">
                <a:moveTo>
                  <a:pt x="1064302" y="0"/>
                </a:moveTo>
                <a:lnTo>
                  <a:pt x="14990" y="44971"/>
                </a:lnTo>
                <a:cubicBezTo>
                  <a:pt x="9993" y="1538991"/>
                  <a:pt x="4997" y="3033010"/>
                  <a:pt x="0" y="4527030"/>
                </a:cubicBezTo>
                <a:lnTo>
                  <a:pt x="929390" y="4497049"/>
                </a:ln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145991-DB0C-9F53-3D1F-3A589112334E}"/>
              </a:ext>
            </a:extLst>
          </p:cNvPr>
          <p:cNvSpPr/>
          <p:nvPr/>
        </p:nvSpPr>
        <p:spPr>
          <a:xfrm>
            <a:off x="6940446" y="6432408"/>
            <a:ext cx="3087974" cy="3008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56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6496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OPQRST</a:t>
            </a:r>
            <a:r>
              <a:rPr kumimoji="1" lang="ja-JP" altLang="en-US" dirty="0"/>
              <a:t>　現病歴メイン　</a:t>
            </a:r>
            <a:r>
              <a:rPr kumimoji="1" lang="en-US" altLang="ja-JP" dirty="0"/>
              <a:t>STEP</a:t>
            </a:r>
            <a:r>
              <a:rPr kumimoji="1" lang="ja-JP" altLang="en-US" dirty="0"/>
              <a:t>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72961A-D8C0-D744-36EC-6277C0F5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884432"/>
            <a:ext cx="11746523" cy="4798329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3600" dirty="0"/>
              <a:t>O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Onset:</a:t>
            </a:r>
            <a:r>
              <a:rPr kumimoji="1" lang="ja-JP" altLang="en-US" sz="3600" dirty="0"/>
              <a:t>発症様式</a:t>
            </a:r>
            <a:endParaRPr kumimoji="1" lang="en-US" altLang="ja-JP" sz="3600" dirty="0"/>
          </a:p>
          <a:p>
            <a:r>
              <a:rPr lang="en-US" altLang="ja-JP" sz="3600" dirty="0"/>
              <a:t>P</a:t>
            </a:r>
            <a:r>
              <a:rPr lang="ja-JP" altLang="en-US" sz="3600" dirty="0"/>
              <a:t>　</a:t>
            </a:r>
            <a:r>
              <a:rPr lang="en-US" altLang="ja-JP" sz="3600" dirty="0"/>
              <a:t>Palliative</a:t>
            </a:r>
            <a:r>
              <a:rPr lang="ja-JP" altLang="en-US" sz="3600" dirty="0"/>
              <a:t>＆</a:t>
            </a:r>
            <a:r>
              <a:rPr lang="en-US" altLang="ja-JP" sz="3600" dirty="0"/>
              <a:t>Provocative Factors:</a:t>
            </a:r>
            <a:r>
              <a:rPr lang="ja-JP" altLang="en-US" sz="3600" dirty="0"/>
              <a:t>軽快、増悪因子</a:t>
            </a:r>
            <a:endParaRPr lang="en-US" altLang="ja-JP" sz="3600" dirty="0"/>
          </a:p>
          <a:p>
            <a:r>
              <a:rPr kumimoji="1" lang="en-US" altLang="ja-JP" sz="3600" dirty="0"/>
              <a:t>Q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Quality</a:t>
            </a:r>
            <a:r>
              <a:rPr kumimoji="1" lang="ja-JP" altLang="en-US" sz="3600" dirty="0"/>
              <a:t>＆</a:t>
            </a:r>
            <a:r>
              <a:rPr kumimoji="1" lang="en-US" altLang="ja-JP" sz="3600" dirty="0"/>
              <a:t>Quantity:</a:t>
            </a:r>
            <a:r>
              <a:rPr kumimoji="1" lang="ja-JP" altLang="en-US" sz="3600" dirty="0"/>
              <a:t>性質と程度</a:t>
            </a:r>
            <a:endParaRPr kumimoji="1" lang="en-US" altLang="ja-JP" sz="3600" dirty="0"/>
          </a:p>
          <a:p>
            <a:r>
              <a:rPr lang="en-US" altLang="ja-JP" sz="3600" dirty="0"/>
              <a:t>R</a:t>
            </a:r>
            <a:r>
              <a:rPr lang="ja-JP" altLang="en-US" sz="3600" dirty="0"/>
              <a:t>　</a:t>
            </a:r>
            <a:r>
              <a:rPr lang="en-US" altLang="ja-JP" sz="3600" dirty="0"/>
              <a:t>Region</a:t>
            </a:r>
            <a:r>
              <a:rPr lang="ja-JP" altLang="en-US" sz="3600" dirty="0"/>
              <a:t>＆</a:t>
            </a:r>
            <a:r>
              <a:rPr lang="en-US" altLang="ja-JP" sz="3600" dirty="0"/>
              <a:t>Radiation:</a:t>
            </a:r>
            <a:r>
              <a:rPr lang="ja-JP" altLang="en-US" sz="3600" dirty="0"/>
              <a:t>部位と放散</a:t>
            </a:r>
            <a:endParaRPr lang="en-US" altLang="ja-JP" sz="3600" dirty="0"/>
          </a:p>
          <a:p>
            <a:r>
              <a:rPr kumimoji="1" lang="en-US" altLang="ja-JP" sz="3600" dirty="0"/>
              <a:t>S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Symptoms/Associated:</a:t>
            </a:r>
            <a:r>
              <a:rPr kumimoji="1" lang="ja-JP" altLang="en-US" sz="3600" dirty="0"/>
              <a:t>随伴症状</a:t>
            </a:r>
            <a:endParaRPr kumimoji="1" lang="en-US" altLang="ja-JP" sz="3600" dirty="0"/>
          </a:p>
          <a:p>
            <a:r>
              <a:rPr lang="en-US" altLang="ja-JP" sz="3600" dirty="0"/>
              <a:t>T</a:t>
            </a:r>
            <a:r>
              <a:rPr lang="ja-JP" altLang="en-US" sz="3600" dirty="0"/>
              <a:t>　</a:t>
            </a:r>
            <a:r>
              <a:rPr lang="en-US" altLang="ja-JP" sz="3600" dirty="0"/>
              <a:t>Time Course:</a:t>
            </a:r>
            <a:r>
              <a:rPr lang="ja-JP" altLang="en-US" sz="3600" dirty="0"/>
              <a:t>時間経過</a:t>
            </a:r>
            <a:endParaRPr kumimoji="1" lang="ja-JP" altLang="en-US" sz="36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B797E45-7419-3984-5ED3-F4AA7F1C0A9F}"/>
              </a:ext>
            </a:extLst>
          </p:cNvPr>
          <p:cNvCxnSpPr/>
          <p:nvPr/>
        </p:nvCxnSpPr>
        <p:spPr>
          <a:xfrm>
            <a:off x="528711" y="2448899"/>
            <a:ext cx="4033603" cy="0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EEB4639-1C7C-D987-319D-E311D2D1A3F2}"/>
              </a:ext>
            </a:extLst>
          </p:cNvPr>
          <p:cNvCxnSpPr>
            <a:cxnSpLocks/>
          </p:cNvCxnSpPr>
          <p:nvPr/>
        </p:nvCxnSpPr>
        <p:spPr>
          <a:xfrm>
            <a:off x="528711" y="6231268"/>
            <a:ext cx="5567289" cy="0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7030A252-ADCC-D609-AF1E-A7998A009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6" b="54179"/>
          <a:stretch/>
        </p:blipFill>
        <p:spPr bwMode="auto">
          <a:xfrm>
            <a:off x="5225416" y="1447612"/>
            <a:ext cx="6966584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5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発症様式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2158"/>
            <a:ext cx="11816861" cy="3598472"/>
          </a:xfrm>
        </p:spPr>
        <p:txBody>
          <a:bodyPr>
            <a:normAutofit/>
          </a:bodyPr>
          <a:lstStyle/>
          <a:p>
            <a:r>
              <a:rPr lang="ja-JP" altLang="en-US" sz="5400" dirty="0"/>
              <a:t>突然？徐々に？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 大体の傷病者は急に起きたと言う</a:t>
            </a:r>
            <a:endParaRPr lang="en-US" altLang="ja-JP" sz="5400" dirty="0"/>
          </a:p>
          <a:p>
            <a:r>
              <a:rPr lang="ja-JP" altLang="en-US" sz="5400" dirty="0"/>
              <a:t>突然とは・・</a:t>
            </a:r>
            <a:endParaRPr lang="en-US" altLang="ja-JP" sz="5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068A16-6850-9D67-2BBB-5D39DA5D9045}"/>
              </a:ext>
            </a:extLst>
          </p:cNvPr>
          <p:cNvSpPr txBox="1"/>
          <p:nvPr/>
        </p:nvSpPr>
        <p:spPr>
          <a:xfrm>
            <a:off x="159659" y="4919008"/>
            <a:ext cx="12032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何をしているときに痛くなったのか言える！！！</a:t>
            </a:r>
          </a:p>
        </p:txBody>
      </p:sp>
    </p:spTree>
    <p:extLst>
      <p:ext uri="{BB962C8B-B14F-4D97-AF65-F5344CB8AC3E}">
        <p14:creationId xmlns:p14="http://schemas.microsoft.com/office/powerpoint/2010/main" val="327552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随伴症状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45" y="1612156"/>
            <a:ext cx="10817671" cy="4802711"/>
          </a:xfrm>
        </p:spPr>
        <p:txBody>
          <a:bodyPr>
            <a:normAutofit/>
          </a:bodyPr>
          <a:lstStyle/>
          <a:p>
            <a:r>
              <a:rPr lang="ja-JP" altLang="en-US" sz="5400" dirty="0"/>
              <a:t>交感神経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　冷汗、冷感、動悸など</a:t>
            </a:r>
            <a:endParaRPr lang="en-US" altLang="ja-JP" sz="5400" dirty="0"/>
          </a:p>
          <a:p>
            <a:r>
              <a:rPr lang="ja-JP" altLang="en-US" sz="5400" dirty="0"/>
              <a:t>副交感神経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　悪心、嘔気、失禁など</a:t>
            </a:r>
            <a:endParaRPr lang="en-US" altLang="ja-JP" sz="5400" dirty="0"/>
          </a:p>
        </p:txBody>
      </p:sp>
    </p:spTree>
    <p:extLst>
      <p:ext uri="{BB962C8B-B14F-4D97-AF65-F5344CB8AC3E}">
        <p14:creationId xmlns:p14="http://schemas.microsoft.com/office/powerpoint/2010/main" val="3640938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時間経過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1612156"/>
            <a:ext cx="11493305" cy="5245844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間欠的</a:t>
            </a:r>
            <a:r>
              <a:rPr lang="en-US" altLang="ja-JP" sz="3600" dirty="0"/>
              <a:t>vs</a:t>
            </a:r>
            <a:r>
              <a:rPr lang="ja-JP" altLang="en-US" sz="3600" dirty="0"/>
              <a:t>持続的</a:t>
            </a:r>
            <a:endParaRPr lang="en-US" altLang="ja-JP" sz="3600" dirty="0"/>
          </a:p>
          <a:p>
            <a:r>
              <a:rPr lang="ja-JP" altLang="en-US" sz="3600" dirty="0"/>
              <a:t>軽快傾向</a:t>
            </a:r>
            <a:r>
              <a:rPr lang="en-US" altLang="ja-JP" sz="3600" dirty="0"/>
              <a:t>vs</a:t>
            </a:r>
            <a:r>
              <a:rPr lang="ja-JP" altLang="en-US" sz="3600" dirty="0"/>
              <a:t>増悪傾向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⇒持続、増悪は重症度、緊急度が高い可能性</a:t>
            </a:r>
            <a:r>
              <a:rPr lang="ja-JP" altLang="en-US" sz="3600"/>
              <a:t>がある</a:t>
            </a:r>
            <a:endParaRPr lang="en-US" altLang="ja-JP" sz="3600" dirty="0"/>
          </a:p>
          <a:p>
            <a:r>
              <a:rPr lang="ja-JP" altLang="en-US" sz="3600" dirty="0"/>
              <a:t>持続するとは、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繰り返す、再発することも含む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「一時も症状はなくならなかったですか？」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672171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en-US" altLang="ja-JP" dirty="0"/>
              <a:t>SAMPLER</a:t>
            </a:r>
            <a:r>
              <a:rPr kumimoji="1" lang="ja-JP" altLang="en-US" dirty="0"/>
              <a:t>　既往歴メイン　</a:t>
            </a:r>
            <a:r>
              <a:rPr kumimoji="1" lang="en-US" altLang="ja-JP" dirty="0"/>
              <a:t>STEP</a:t>
            </a:r>
            <a:r>
              <a:rPr kumimoji="1" lang="ja-JP" altLang="en-US" dirty="0"/>
              <a:t>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6" y="1709996"/>
            <a:ext cx="11193732" cy="5014361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4000" dirty="0"/>
              <a:t>S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Sign</a:t>
            </a:r>
            <a:r>
              <a:rPr kumimoji="1" lang="ja-JP" altLang="en-US" sz="4000" dirty="0"/>
              <a:t>＆</a:t>
            </a:r>
            <a:r>
              <a:rPr kumimoji="1" lang="en-US" altLang="ja-JP" sz="4000" dirty="0"/>
              <a:t>symptom:</a:t>
            </a:r>
            <a:r>
              <a:rPr kumimoji="1" lang="ja-JP" altLang="en-US" sz="4000" dirty="0"/>
              <a:t>主訴</a:t>
            </a:r>
            <a:endParaRPr kumimoji="1" lang="en-US" altLang="ja-JP" sz="4000" dirty="0"/>
          </a:p>
          <a:p>
            <a:r>
              <a:rPr lang="en-US" altLang="ja-JP" sz="4000" dirty="0"/>
              <a:t>A</a:t>
            </a:r>
            <a:r>
              <a:rPr lang="ja-JP" altLang="en-US" sz="4000" dirty="0"/>
              <a:t>　</a:t>
            </a:r>
            <a:r>
              <a:rPr lang="en-US" altLang="ja-JP" sz="4000" dirty="0"/>
              <a:t>Allergy:</a:t>
            </a:r>
            <a:r>
              <a:rPr lang="ja-JP" altLang="en-US" sz="4000" dirty="0"/>
              <a:t>アレルギー</a:t>
            </a:r>
            <a:endParaRPr lang="en-US" altLang="ja-JP" sz="4000" dirty="0"/>
          </a:p>
          <a:p>
            <a:r>
              <a:rPr kumimoji="1" lang="en-US" altLang="ja-JP" sz="4000" dirty="0"/>
              <a:t>M  Medication:</a:t>
            </a:r>
            <a:r>
              <a:rPr kumimoji="1" lang="ja-JP" altLang="en-US" sz="4000" dirty="0"/>
              <a:t>内服</a:t>
            </a:r>
            <a:endParaRPr kumimoji="1" lang="en-US" altLang="ja-JP" sz="4000" dirty="0"/>
          </a:p>
          <a:p>
            <a:r>
              <a:rPr lang="en-US" altLang="ja-JP" sz="4000" dirty="0"/>
              <a:t>P</a:t>
            </a:r>
            <a:r>
              <a:rPr lang="ja-JP" altLang="en-US" sz="4000" dirty="0"/>
              <a:t>　</a:t>
            </a:r>
            <a:r>
              <a:rPr lang="en-US" altLang="ja-JP" sz="4000" dirty="0"/>
              <a:t>Past medical history:</a:t>
            </a:r>
            <a:r>
              <a:rPr lang="ja-JP" altLang="en-US" sz="4000" dirty="0"/>
              <a:t>既往歴</a:t>
            </a:r>
            <a:endParaRPr lang="en-US" altLang="ja-JP" sz="4000" dirty="0"/>
          </a:p>
          <a:p>
            <a:r>
              <a:rPr kumimoji="1" lang="en-US" altLang="ja-JP" sz="4000" dirty="0"/>
              <a:t>L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Last meal:</a:t>
            </a:r>
            <a:r>
              <a:rPr lang="ja-JP" altLang="en-US" sz="4000" dirty="0"/>
              <a:t>最終食事</a:t>
            </a:r>
            <a:endParaRPr lang="en-US" altLang="ja-JP" sz="4000" dirty="0"/>
          </a:p>
          <a:p>
            <a:r>
              <a:rPr kumimoji="1" lang="en-US" altLang="ja-JP" sz="4000" dirty="0"/>
              <a:t>R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Risk factor:</a:t>
            </a:r>
            <a:r>
              <a:rPr kumimoji="1" lang="ja-JP" altLang="en-US" sz="4000" dirty="0"/>
              <a:t>危険因子</a:t>
            </a:r>
          </a:p>
        </p:txBody>
      </p:sp>
    </p:spTree>
    <p:extLst>
      <p:ext uri="{BB962C8B-B14F-4D97-AF65-F5344CB8AC3E}">
        <p14:creationId xmlns:p14="http://schemas.microsoft.com/office/powerpoint/2010/main" val="768289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判断</a:t>
            </a:r>
            <a:r>
              <a:rPr kumimoji="1" lang="ja-JP" altLang="en-US" dirty="0"/>
              <a:t>　</a:t>
            </a:r>
            <a:r>
              <a:rPr kumimoji="1" lang="en-US" altLang="ja-JP" dirty="0"/>
              <a:t>STEP</a:t>
            </a:r>
            <a:r>
              <a:rPr lang="ja-JP" altLang="en-US" dirty="0"/>
              <a:t>４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sz="4000" dirty="0"/>
              <a:t>初期評価、情報収集、バイタル測定から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  </a:t>
            </a:r>
            <a:r>
              <a:rPr lang="ja-JP" altLang="en-US" sz="4000" b="1" dirty="0">
                <a:solidFill>
                  <a:srgbClr val="92D050"/>
                </a:solidFill>
              </a:rPr>
              <a:t>内因性ロード＆ゴーを判断</a:t>
            </a:r>
            <a:endParaRPr lang="en-US" altLang="ja-JP" sz="4000" b="1" dirty="0">
              <a:solidFill>
                <a:srgbClr val="92D050"/>
              </a:solidFill>
            </a:endParaRPr>
          </a:p>
          <a:p>
            <a:r>
              <a:rPr kumimoji="1" lang="ja-JP" altLang="en-US" sz="4000" dirty="0"/>
              <a:t>特定行為が必要なら・・・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  </a:t>
            </a:r>
            <a:r>
              <a:rPr lang="ja-JP" altLang="en-US" sz="4000" b="1" dirty="0">
                <a:solidFill>
                  <a:srgbClr val="92D050"/>
                </a:solidFill>
              </a:rPr>
              <a:t>輸液プロトコル</a:t>
            </a:r>
            <a:r>
              <a:rPr lang="en-US" altLang="ja-JP" sz="4000" b="1" dirty="0">
                <a:solidFill>
                  <a:srgbClr val="92D050"/>
                </a:solidFill>
              </a:rPr>
              <a:t>or</a:t>
            </a:r>
            <a:r>
              <a:rPr lang="ja-JP" altLang="en-US" sz="4000" b="1" dirty="0">
                <a:solidFill>
                  <a:srgbClr val="92D050"/>
                </a:solidFill>
              </a:rPr>
              <a:t>ブドウ糖プロトコル</a:t>
            </a:r>
            <a:endParaRPr lang="en-US" altLang="ja-JP" sz="4000" b="1" dirty="0">
              <a:solidFill>
                <a:srgbClr val="92D050"/>
              </a:solidFill>
            </a:endParaRPr>
          </a:p>
          <a:p>
            <a:r>
              <a:rPr kumimoji="1" lang="ja-JP" altLang="en-US" sz="4000" dirty="0"/>
              <a:t>意識障害なら・・・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en-US" altLang="ja-JP" sz="4000" dirty="0"/>
              <a:t>  </a:t>
            </a:r>
            <a:r>
              <a:rPr lang="en-US" altLang="ja-JP" sz="4000" b="1" dirty="0">
                <a:solidFill>
                  <a:srgbClr val="92D050"/>
                </a:solidFill>
              </a:rPr>
              <a:t>PCEC</a:t>
            </a:r>
          </a:p>
          <a:p>
            <a:r>
              <a:rPr kumimoji="1" lang="ja-JP" altLang="en-US" sz="4000" dirty="0"/>
              <a:t>脳卒中疑いなら・・・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en-US" altLang="ja-JP" sz="4000" dirty="0"/>
              <a:t>  </a:t>
            </a:r>
            <a:r>
              <a:rPr lang="en-US" altLang="ja-JP" sz="4000" b="1" dirty="0">
                <a:solidFill>
                  <a:srgbClr val="92D050"/>
                </a:solidFill>
              </a:rPr>
              <a:t>PSLS</a:t>
            </a:r>
            <a:endParaRPr kumimoji="1" lang="en-US" altLang="ja-JP" sz="4000" b="1" dirty="0">
              <a:solidFill>
                <a:srgbClr val="92D050"/>
              </a:solidFill>
            </a:endParaRPr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6759ED30-1814-F2A2-68FC-9EE0A33A4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35" b="29683"/>
          <a:stretch/>
        </p:blipFill>
        <p:spPr bwMode="auto">
          <a:xfrm>
            <a:off x="4910622" y="4248593"/>
            <a:ext cx="6966584" cy="179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84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全身観察</a:t>
            </a:r>
            <a:r>
              <a:rPr kumimoji="1" lang="en-US" altLang="ja-JP" dirty="0"/>
              <a:t>/</a:t>
            </a:r>
            <a:r>
              <a:rPr lang="ja-JP" altLang="en-US" dirty="0"/>
              <a:t>重点観察</a:t>
            </a:r>
            <a:r>
              <a:rPr kumimoji="1" lang="ja-JP" altLang="en-US" dirty="0"/>
              <a:t>　</a:t>
            </a:r>
            <a:r>
              <a:rPr kumimoji="1" lang="en-US" altLang="ja-JP" dirty="0"/>
              <a:t>STEP</a:t>
            </a:r>
            <a:r>
              <a:rPr kumimoji="1" lang="ja-JP" altLang="en-US" dirty="0"/>
              <a:t>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/>
          </a:bodyPr>
          <a:lstStyle/>
          <a:p>
            <a:r>
              <a:rPr lang="ja-JP" altLang="en-US" sz="4000" dirty="0"/>
              <a:t>症候別緊急度分類</a:t>
            </a:r>
            <a:endParaRPr lang="en-US" altLang="ja-JP" sz="4000" dirty="0"/>
          </a:p>
          <a:p>
            <a:r>
              <a:rPr lang="ja-JP" altLang="en-US" sz="4000" dirty="0"/>
              <a:t>詳しくは別途スライドにて</a:t>
            </a:r>
            <a:endParaRPr lang="en-US" altLang="ja-JP" sz="4000" dirty="0"/>
          </a:p>
          <a:p>
            <a:r>
              <a:rPr lang="ja-JP" altLang="en-US" sz="4000" dirty="0"/>
              <a:t>内因性ロードアンドゴーの判断</a:t>
            </a:r>
            <a:endParaRPr lang="en-US" altLang="ja-JP" sz="4000" dirty="0"/>
          </a:p>
          <a:p>
            <a:endParaRPr lang="en-US" altLang="ja-JP" sz="4000" dirty="0"/>
          </a:p>
        </p:txBody>
      </p:sp>
      <p:pic>
        <p:nvPicPr>
          <p:cNvPr id="4" name="Picture 2" descr="画像">
            <a:extLst>
              <a:ext uri="{FF2B5EF4-FFF2-40B4-BE49-F238E27FC236}">
                <a16:creationId xmlns:a16="http://schemas.microsoft.com/office/drawing/2014/main" id="{CAAC84E0-CCBB-E4FA-B501-F409DF739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00" b="7724"/>
          <a:stretch/>
        </p:blipFill>
        <p:spPr bwMode="auto">
          <a:xfrm>
            <a:off x="5225416" y="4572000"/>
            <a:ext cx="6966584" cy="186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191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ファーストコール　</a:t>
            </a:r>
            <a:r>
              <a:rPr kumimoji="1" lang="en-US" altLang="ja-JP" dirty="0"/>
              <a:t>STEP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 lnSpcReduction="10000"/>
          </a:bodyPr>
          <a:lstStyle/>
          <a:p>
            <a:r>
              <a:rPr lang="en-US" altLang="ja-JP" sz="4000" dirty="0"/>
              <a:t>I:Identify(</a:t>
            </a:r>
            <a:r>
              <a:rPr lang="ja-JP" altLang="en-US" sz="4000" dirty="0"/>
              <a:t>報告書、対象者の同定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S:Situation(</a:t>
            </a:r>
            <a:r>
              <a:rPr lang="ja-JP" altLang="en-US" sz="4000" dirty="0"/>
              <a:t>状況、状態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B:Background(</a:t>
            </a:r>
            <a:r>
              <a:rPr lang="ja-JP" altLang="en-US" sz="4000" dirty="0"/>
              <a:t>背景、経過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A:Assessment(</a:t>
            </a:r>
            <a:r>
              <a:rPr lang="ja-JP" altLang="en-US" sz="4000" dirty="0"/>
              <a:t>評価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R:Recommendation(</a:t>
            </a:r>
            <a:r>
              <a:rPr lang="ja-JP" altLang="en-US" sz="4000" dirty="0"/>
              <a:t>依頼、要請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C:Confirm(</a:t>
            </a:r>
            <a:r>
              <a:rPr lang="ja-JP" altLang="en-US" sz="4000" dirty="0"/>
              <a:t>口頭指示の復唱、確認</a:t>
            </a:r>
            <a:r>
              <a:rPr lang="en-US" altLang="ja-JP" sz="4000" dirty="0"/>
              <a:t>)</a:t>
            </a:r>
          </a:p>
          <a:p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3946342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ファーストコール　</a:t>
            </a:r>
            <a:r>
              <a:rPr kumimoji="1" lang="en-US" altLang="ja-JP" dirty="0"/>
              <a:t>STEP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 fontScale="70000" lnSpcReduction="20000"/>
          </a:bodyPr>
          <a:lstStyle/>
          <a:p>
            <a:r>
              <a:rPr lang="en-US" altLang="ja-JP" sz="4000" dirty="0"/>
              <a:t>I</a:t>
            </a:r>
            <a:r>
              <a:rPr lang="ja-JP" altLang="en-US" sz="4000" dirty="0"/>
              <a:t>：</a:t>
            </a:r>
            <a:r>
              <a:rPr lang="en-US" altLang="ja-JP" sz="4000" dirty="0"/>
              <a:t>Identify(</a:t>
            </a:r>
            <a:r>
              <a:rPr lang="ja-JP" altLang="en-US" sz="4000" dirty="0"/>
              <a:t>６０歳、男性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S:Situation(</a:t>
            </a:r>
            <a:r>
              <a:rPr lang="ja-JP" altLang="en-US" sz="4000" dirty="0"/>
              <a:t>テレビを見ていたところ急に胸痛を起こしました。心電図モニター上、</a:t>
            </a:r>
            <a:r>
              <a:rPr lang="en-US" altLang="ja-JP" sz="4000" dirty="0"/>
              <a:t>ST</a:t>
            </a:r>
            <a:r>
              <a:rPr lang="ja-JP" altLang="en-US" sz="4000" dirty="0"/>
              <a:t>上昇しています。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B:Background(</a:t>
            </a:r>
            <a:r>
              <a:rPr lang="ja-JP" altLang="en-US" sz="4000" dirty="0"/>
              <a:t>狭心症の既往歴があり、痛みは２０分以上継続しています。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A:Assessment(</a:t>
            </a:r>
            <a:r>
              <a:rPr lang="ja-JP" altLang="en-US" sz="4000" dirty="0"/>
              <a:t>心筋梗塞の疑いです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R:Recommendation(</a:t>
            </a:r>
            <a:r>
              <a:rPr lang="ja-JP" altLang="en-US" sz="4000" dirty="0"/>
              <a:t>心原性ショックに対する輸液はいかがでしょうか？また収容いかがでしょうか？</a:t>
            </a:r>
            <a:r>
              <a:rPr lang="en-US" altLang="ja-JP" sz="4000" dirty="0"/>
              <a:t>)</a:t>
            </a:r>
          </a:p>
          <a:p>
            <a:r>
              <a:rPr lang="en-US" altLang="ja-JP" sz="4000" dirty="0"/>
              <a:t>C:Confirm(</a:t>
            </a:r>
            <a:r>
              <a:rPr lang="ja-JP" altLang="en-US" sz="4000" dirty="0"/>
              <a:t>維持輸液で投与します。収容まで２０分です。</a:t>
            </a:r>
            <a:r>
              <a:rPr lang="en-US" altLang="ja-JP" sz="4000" dirty="0"/>
              <a:t>)</a:t>
            </a:r>
          </a:p>
          <a:p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54196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ファーストコール　</a:t>
            </a:r>
            <a:r>
              <a:rPr kumimoji="1" lang="en-US" altLang="ja-JP" dirty="0"/>
              <a:t>STEP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sz="4000" dirty="0"/>
              <a:t>年齢、性別</a:t>
            </a:r>
            <a:endParaRPr lang="en-US" altLang="ja-JP" sz="4000" dirty="0"/>
          </a:p>
          <a:p>
            <a:r>
              <a:rPr lang="ja-JP" altLang="en-US" sz="4000" dirty="0"/>
              <a:t>依頼内容（収容依頼？特定行為指示要請？助言？）</a:t>
            </a:r>
            <a:endParaRPr lang="en-US" altLang="ja-JP" sz="4000" dirty="0"/>
          </a:p>
          <a:p>
            <a:r>
              <a:rPr lang="ja-JP" altLang="en-US" sz="4000" dirty="0"/>
              <a:t>メインの状態（救急現場を一言でいうと）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内因性ロード＆ゴー症例です。急性心筋梗塞疑いでショック状態です。</a:t>
            </a:r>
            <a:endParaRPr lang="en-US" altLang="ja-JP" sz="4000" dirty="0"/>
          </a:p>
          <a:p>
            <a:r>
              <a:rPr lang="ja-JP" altLang="en-US" sz="4000" dirty="0"/>
              <a:t>その根拠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２０分以上続く胸部圧迫感、心電図モニター上</a:t>
            </a:r>
            <a:r>
              <a:rPr lang="en-US" altLang="ja-JP" sz="4000" dirty="0" err="1"/>
              <a:t>Ⅱ,Ⅲ</a:t>
            </a:r>
            <a:r>
              <a:rPr lang="ja-JP" altLang="en-US" sz="4000" dirty="0"/>
              <a:t>誘導で</a:t>
            </a:r>
            <a:r>
              <a:rPr lang="en-US" altLang="ja-JP" sz="4000" dirty="0"/>
              <a:t>ST</a:t>
            </a:r>
            <a:r>
              <a:rPr lang="ja-JP" altLang="en-US" sz="4000" dirty="0"/>
              <a:t>上昇。既往歴に狭心症があります。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処置は、酸素投与。搬送中に静脈路確保を実施したいのでがよろしいですか？</a:t>
            </a:r>
            <a:endParaRPr lang="en-US" altLang="ja-JP" sz="4000" dirty="0"/>
          </a:p>
          <a:p>
            <a:pPr marL="0" indent="0">
              <a:buNone/>
            </a:pPr>
            <a:endParaRPr lang="en-US" altLang="ja-JP" sz="4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E6A2D2-11A0-9440-1E79-873CDBB2440D}"/>
              </a:ext>
            </a:extLst>
          </p:cNvPr>
          <p:cNvSpPr txBox="1"/>
          <p:nvPr/>
        </p:nvSpPr>
        <p:spPr>
          <a:xfrm>
            <a:off x="2" y="3429000"/>
            <a:ext cx="12191998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要は結論を頭にもってこい！</a:t>
            </a:r>
            <a:endParaRPr lang="en-US" altLang="ja-JP" sz="7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140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kumimoji="1" lang="ja-JP" altLang="en-US" dirty="0"/>
              <a:t>情報聴取のポイント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9996"/>
            <a:ext cx="12192000" cy="5014361"/>
          </a:xfrm>
        </p:spPr>
        <p:txBody>
          <a:bodyPr>
            <a:normAutofit/>
          </a:bodyPr>
          <a:lstStyle/>
          <a:p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いる情報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いらない情報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2820568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いる情報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6282"/>
            <a:ext cx="12192000" cy="5118075"/>
          </a:xfrm>
        </p:spPr>
        <p:txBody>
          <a:bodyPr>
            <a:normAutofit lnSpcReduction="10000"/>
          </a:bodyPr>
          <a:lstStyle/>
          <a:p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年齢、性別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ショックあり、なし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主訴、メインの所見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既往歴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発症時間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280309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9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ja-JP" altLang="en-US" dirty="0"/>
              <a:t>いらない情報（ファーストコール）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6282"/>
            <a:ext cx="12192000" cy="5118075"/>
          </a:xfrm>
        </p:spPr>
        <p:txBody>
          <a:bodyPr>
            <a:normAutofit/>
          </a:bodyPr>
          <a:lstStyle/>
          <a:p>
            <a:r>
              <a:rPr lang="ja-JP" altLang="en-US" sz="4000" dirty="0"/>
              <a:t>傷病者の漢字</a:t>
            </a:r>
            <a:endParaRPr lang="en-US" altLang="ja-JP" sz="4000" dirty="0"/>
          </a:p>
          <a:p>
            <a:r>
              <a:rPr lang="ja-JP" altLang="en-US" sz="4000" dirty="0"/>
              <a:t>住所</a:t>
            </a:r>
            <a:endParaRPr lang="en-US" altLang="ja-JP" sz="4000" dirty="0"/>
          </a:p>
          <a:p>
            <a:r>
              <a:rPr lang="ja-JP" altLang="en-US" sz="4000" dirty="0"/>
              <a:t>コロナ有無</a:t>
            </a:r>
            <a:endParaRPr lang="en-US" altLang="ja-JP" sz="4000" dirty="0"/>
          </a:p>
          <a:p>
            <a:r>
              <a:rPr lang="ja-JP" altLang="en-US" sz="4000" b="1" dirty="0"/>
              <a:t>発生状況の詳細　５</a:t>
            </a:r>
            <a:r>
              <a:rPr lang="en-US" altLang="ja-JP" sz="4000" b="1" dirty="0"/>
              <a:t>W</a:t>
            </a:r>
            <a:r>
              <a:rPr lang="ja-JP" altLang="en-US" sz="4000" b="1" dirty="0"/>
              <a:t>１</a:t>
            </a:r>
            <a:r>
              <a:rPr lang="en-US" altLang="ja-JP" sz="4000" b="1"/>
              <a:t>H</a:t>
            </a:r>
          </a:p>
          <a:p>
            <a:endParaRPr lang="en-US" altLang="ja-JP" sz="4000"/>
          </a:p>
        </p:txBody>
      </p:sp>
    </p:spTree>
    <p:extLst>
      <p:ext uri="{BB962C8B-B14F-4D97-AF65-F5344CB8AC3E}">
        <p14:creationId xmlns:p14="http://schemas.microsoft.com/office/powerpoint/2010/main" val="3927204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490A4-943D-AECE-161A-BA4ADC41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6015"/>
            <a:ext cx="10515600" cy="2852737"/>
          </a:xfrm>
        </p:spPr>
        <p:txBody>
          <a:bodyPr/>
          <a:lstStyle/>
          <a:p>
            <a:r>
              <a:rPr kumimoji="1" lang="ja-JP" altLang="en-US" dirty="0"/>
              <a:t>では、やってみましょう！！</a:t>
            </a:r>
          </a:p>
        </p:txBody>
      </p:sp>
    </p:spTree>
    <p:extLst>
      <p:ext uri="{BB962C8B-B14F-4D97-AF65-F5344CB8AC3E}">
        <p14:creationId xmlns:p14="http://schemas.microsoft.com/office/powerpoint/2010/main" val="223335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</TotalTime>
  <Words>1191</Words>
  <Application>Microsoft Office PowerPoint</Application>
  <PresentationFormat>ワイド画面</PresentationFormat>
  <Paragraphs>163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27</vt:i4>
      </vt:variant>
    </vt:vector>
  </HeadingPairs>
  <TitlesOfParts>
    <vt:vector size="33" baseType="lpstr">
      <vt:lpstr>メイリオ</vt:lpstr>
      <vt:lpstr>游ゴシック</vt:lpstr>
      <vt:lpstr>游ゴシック Light</vt:lpstr>
      <vt:lpstr>Arial</vt:lpstr>
      <vt:lpstr>Office テーマ</vt:lpstr>
      <vt:lpstr>デザインの設定</vt:lpstr>
      <vt:lpstr>救急臨床推論(実践編)</vt:lpstr>
      <vt:lpstr>臨床推論</vt:lpstr>
      <vt:lpstr>病院前救護の標準化</vt:lpstr>
      <vt:lpstr>　　PEMEC</vt:lpstr>
      <vt:lpstr>出場～現着まで　STEP１</vt:lpstr>
      <vt:lpstr>出場～現着まで　STEP１</vt:lpstr>
      <vt:lpstr>現着～傷病者接触まで　STEP１　</vt:lpstr>
      <vt:lpstr>現着～傷病者接触まで　STEP１　</vt:lpstr>
      <vt:lpstr>現着～傷病者接触まで　STEP2　</vt:lpstr>
      <vt:lpstr>現着～傷病者接触まで　STEP2　</vt:lpstr>
      <vt:lpstr>初期評価　STEP２　</vt:lpstr>
      <vt:lpstr>初期評価　STEP2→6　</vt:lpstr>
      <vt:lpstr>初期評価　STEP2→6　</vt:lpstr>
      <vt:lpstr>OPQRST　現病歴メイン　STEP３</vt:lpstr>
      <vt:lpstr>発症様式</vt:lpstr>
      <vt:lpstr>随伴症状</vt:lpstr>
      <vt:lpstr>時間経過</vt:lpstr>
      <vt:lpstr>SAMPLER　既往歴メイン　STEP３</vt:lpstr>
      <vt:lpstr>判断　STEP４</vt:lpstr>
      <vt:lpstr>全身観察/重点観察　STEP５</vt:lpstr>
      <vt:lpstr>ファーストコール　STEP6</vt:lpstr>
      <vt:lpstr>ファーストコール　STEP6</vt:lpstr>
      <vt:lpstr>ファーストコール　STEP6</vt:lpstr>
      <vt:lpstr>情報聴取のポイント</vt:lpstr>
      <vt:lpstr>いる情報</vt:lpstr>
      <vt:lpstr>いらない情報（ファーストコール）</vt:lpstr>
      <vt:lpstr>では、やってみましょう！！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救急臨床推論</dc:title>
  <dc:creator>中村　哲久</dc:creator>
  <cp:lastModifiedBy>中村　哲久</cp:lastModifiedBy>
  <cp:revision>14</cp:revision>
  <dcterms:created xsi:type="dcterms:W3CDTF">2023-09-18T07:40:21Z</dcterms:created>
  <dcterms:modified xsi:type="dcterms:W3CDTF">2023-12-03T14:32:41Z</dcterms:modified>
</cp:coreProperties>
</file>