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82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80" r:id="rId26"/>
    <p:sldId id="281" r:id="rId27"/>
    <p:sldId id="279" r:id="rId2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114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哲久 中村" userId="959916a84418345a" providerId="LiveId" clId="{DD517F52-218D-4002-9827-7AD316B7A6EB}"/>
    <pc:docChg chg="modSld">
      <pc:chgData name="哲久 中村" userId="959916a84418345a" providerId="LiveId" clId="{DD517F52-218D-4002-9827-7AD316B7A6EB}" dt="2026-03-14T12:30:43.918" v="33" actId="20577"/>
      <pc:docMkLst>
        <pc:docMk/>
      </pc:docMkLst>
      <pc:sldChg chg="modSp mod">
        <pc:chgData name="哲久 中村" userId="959916a84418345a" providerId="LiveId" clId="{DD517F52-218D-4002-9827-7AD316B7A6EB}" dt="2026-03-14T12:30:27.979" v="11" actId="20577"/>
        <pc:sldMkLst>
          <pc:docMk/>
          <pc:sldMk cId="1928793149" sldId="265"/>
        </pc:sldMkLst>
        <pc:spChg chg="mod">
          <ac:chgData name="哲久 中村" userId="959916a84418345a" providerId="LiveId" clId="{DD517F52-218D-4002-9827-7AD316B7A6EB}" dt="2026-03-14T12:30:27.979" v="11" actId="20577"/>
          <ac:spMkLst>
            <pc:docMk/>
            <pc:sldMk cId="1928793149" sldId="265"/>
            <ac:spMk id="2" creationId="{B3B6F430-EF4E-8C4C-C876-18D40F268E0E}"/>
          </ac:spMkLst>
        </pc:spChg>
      </pc:sldChg>
      <pc:sldChg chg="modSp mod">
        <pc:chgData name="哲久 中村" userId="959916a84418345a" providerId="LiveId" clId="{DD517F52-218D-4002-9827-7AD316B7A6EB}" dt="2026-03-14T12:30:35.918" v="22" actId="20577"/>
        <pc:sldMkLst>
          <pc:docMk/>
          <pc:sldMk cId="1536341580" sldId="266"/>
        </pc:sldMkLst>
        <pc:spChg chg="mod">
          <ac:chgData name="哲久 中村" userId="959916a84418345a" providerId="LiveId" clId="{DD517F52-218D-4002-9827-7AD316B7A6EB}" dt="2026-03-14T12:30:35.918" v="22" actId="20577"/>
          <ac:spMkLst>
            <pc:docMk/>
            <pc:sldMk cId="1536341580" sldId="266"/>
            <ac:spMk id="2" creationId="{B3B6F430-EF4E-8C4C-C876-18D40F268E0E}"/>
          </ac:spMkLst>
        </pc:spChg>
      </pc:sldChg>
      <pc:sldChg chg="modSp mod">
        <pc:chgData name="哲久 中村" userId="959916a84418345a" providerId="LiveId" clId="{DD517F52-218D-4002-9827-7AD316B7A6EB}" dt="2026-03-14T12:30:43.918" v="33" actId="20577"/>
        <pc:sldMkLst>
          <pc:docMk/>
          <pc:sldMk cId="843157177" sldId="267"/>
        </pc:sldMkLst>
        <pc:spChg chg="mod">
          <ac:chgData name="哲久 中村" userId="959916a84418345a" providerId="LiveId" clId="{DD517F52-218D-4002-9827-7AD316B7A6EB}" dt="2026-03-14T12:30:43.918" v="33" actId="20577"/>
          <ac:spMkLst>
            <pc:docMk/>
            <pc:sldMk cId="843157177" sldId="267"/>
            <ac:spMk id="2" creationId="{B3B6F430-EF4E-8C4C-C876-18D40F268E0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46A24C-79D3-ADF0-FA39-2559333CE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E4A99FA-704D-E39F-FC8D-EF15C85A1B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dirty="0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55BE23D-B67B-BE0E-CDCA-278861FEF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83C1-7DF4-4336-8FCB-0C0C0EFB964A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98A2E0E-7E1D-C1FC-B354-C87C0178A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3A7ACCA-3AA5-A315-1518-F704FA134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C8F7-7873-45F5-AE76-7B2041D88B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0999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628549-8787-6099-69D3-EBD85943615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7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BB3EDDC-7CB0-07B8-3A01-41A26F745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5000"/>
              </a:lnSpc>
              <a:defRPr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>
              <a:lnSpc>
                <a:spcPct val="125000"/>
              </a:lnSpc>
              <a:defRPr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2pPr>
            <a:lvl3pPr>
              <a:lnSpc>
                <a:spcPct val="125000"/>
              </a:lnSpc>
              <a:defRPr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3pPr>
            <a:lvl4pPr>
              <a:lnSpc>
                <a:spcPct val="125000"/>
              </a:lnSpc>
              <a:defRPr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4pPr>
            <a:lvl5pPr>
              <a:lnSpc>
                <a:spcPct val="125000"/>
              </a:lnSpc>
              <a:defRPr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C965EE5-21CD-290D-C429-D389BD255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83C1-7DF4-4336-8FCB-0C0C0EFB964A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20F539-EBF3-82E7-2636-737FE61D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28A0EAB-53D1-A931-7970-130AA2B1E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C8F7-7873-45F5-AE76-7B2041D88B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3000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1A7864-8AAC-6A02-0960-5313C1859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B63CFE9-84B4-849A-8DD0-EF704AE10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0D4E381-B94E-55AD-62E6-85E33DF08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83C1-7DF4-4336-8FCB-0C0C0EFB964A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3035BC-6027-6E74-46FD-53D0C0F3B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82E252-74FD-957D-5E4F-775120198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C8F7-7873-45F5-AE76-7B2041D88B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7438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9EBC6D-21F4-D247-E820-ED5925575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DCB639A-25C9-DBC2-A170-78E2D305CB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6F21FEE-6967-6192-4665-698C04CC5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58FFCC8-9A60-8F0F-174E-60B37F782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83C1-7DF4-4336-8FCB-0C0C0EFB964A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72E446B-B4F3-B8B1-DE19-AFCB20F15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2044BF5-D877-63C3-D7F5-35FFAF404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C8F7-7873-45F5-AE76-7B2041D88B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2850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2E9933-AC2D-BD07-F39C-4E9097B4C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05544-F1A4-36C3-F229-358787064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997F827-0826-0337-9421-D8267DFE60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8F08DF2-D958-408F-EE5D-04C84714B8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F5EAA89-073E-3FF3-7A93-4832BB46EB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F979756-09A4-BD74-CED2-D993C9F35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83C1-7DF4-4336-8FCB-0C0C0EFB964A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014961B-AB28-14D5-882A-9242C8E7E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432BFCF-0447-E1A8-D831-46C36138C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C8F7-7873-45F5-AE76-7B2041D88B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3845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22440E-A832-E382-F0A1-85440B5A3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6E816A9-CA3C-1D54-3C0D-3A176B2AD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83C1-7DF4-4336-8FCB-0C0C0EFB964A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A71E956-35B1-AD28-625F-976B2DF81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83F512C-E6FF-BEB3-0C44-2725D3CE3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C8F7-7873-45F5-AE76-7B2041D88B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5661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BC7FD9C-887A-9E91-5E2D-790E955D4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83C1-7DF4-4336-8FCB-0C0C0EFB964A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C558D84-3936-FE57-DC7B-7C24A25D1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C93ED8C-9016-EB4A-8969-36831D90F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C8F7-7873-45F5-AE76-7B2041D88B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42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B80AE3-9E24-36C8-D144-F64841D39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BF9148D-C6AB-51E9-21E8-79FEB0171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B48439C-D17B-7FEE-EA4C-0F636B3CAA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9D3216D-B9BB-0012-730E-3B208952C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83C1-7DF4-4336-8FCB-0C0C0EFB964A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EDE55F6-3771-41CC-D4D3-9107AB129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3AA921-2486-FE23-426A-80DCEB36E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C8F7-7873-45F5-AE76-7B2041D88B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9812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17C80D-D136-5A22-7AA1-6F98C0132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392C93C-A56A-B469-21E5-ED7648814D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41190E2-195A-9960-CC21-74B10F18ED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C6FDD16-8AF6-C70D-517B-624E62B17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83C1-7DF4-4336-8FCB-0C0C0EFB964A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CC9C114-6DDE-28BE-F272-A26CE442A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18EDF92-971A-8EBA-CF80-880B2183C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C8F7-7873-45F5-AE76-7B2041D88B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9975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DB7E00-3810-DF08-14DB-2A6291731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0770EAF-BEC7-686C-F540-E23E1DCD1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FBAAA6F-D3DA-CE0B-F033-549F80190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83C1-7DF4-4336-8FCB-0C0C0EFB964A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49632B-1C62-840B-477E-0BCA5581F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F23C3B-1877-1749-63F9-C112EE911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C8F7-7873-45F5-AE76-7B2041D88B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9792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E03E4C7-3B0F-6AE4-4335-B8F21A87E4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76D881F-B37E-BC33-FDCD-BFEA65847A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0A04566-BB0C-65A8-6B17-1731BB5B2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83C1-7DF4-4336-8FCB-0C0C0EFB964A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0DF5B16-13DE-9F28-4A62-C65DF6861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9C7059C-9042-36D9-98A6-9AA2F054A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C8F7-7873-45F5-AE76-7B2041D88B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4785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604046-CBC5-4549-0BEE-D72EED8485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294F712-D496-270C-31C9-0BA26CA29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39EA9E6-4665-20D2-CC38-1F4483DBF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AE6E-1DF2-472F-BDDF-3AA331D50381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343F4E2-5DE1-4482-DEC1-4F0D25FB9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CC2135-EE10-12B1-8A20-1A0E76582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EE11-6F8F-4953-A80D-6E67A04AFF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95149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7F93F0-6313-9D06-DF50-3ADFDD9BD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5577D8D-6EE3-0054-C2ED-2A6CD732B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8490878-5DF9-D98A-5517-38465F68B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AE6E-1DF2-472F-BDDF-3AA331D50381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10DD89A-B698-905D-32DA-29C31E03C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BD70C9F-2F64-EA60-2750-FAA0CCFE7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EE11-6F8F-4953-A80D-6E67A04AFF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43000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62C482-B061-5BD0-A378-D92CB49B8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5209D88-71CE-F7DE-B5D2-946A28E0E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F4EDFE2-21FD-5A0A-E70B-9A3D0E208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AE6E-1DF2-472F-BDDF-3AA331D50381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A9B3FB-43C9-F35C-AC9C-41FFC2309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7B40BD-02D6-EFE5-83D3-7C181E3FD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EE11-6F8F-4953-A80D-6E67A04AFF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7264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2B757A-12C9-185B-6A4B-3E43CCA47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60A1BC0-A766-2CF8-8DF6-09B3FF80A1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57E4AA6-F089-51DA-3B75-F40DB2F7B3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D1CBA87-AAAB-B179-B675-BA2BB0D2F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AE6E-1DF2-472F-BDDF-3AA331D50381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288D3F5-65B6-8FE7-A540-03C2D4F20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E3C5726-FE92-AC57-E151-50F80B001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EE11-6F8F-4953-A80D-6E67A04AFF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90271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854AF8-5419-CCBF-F115-C8870446B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DCA8CC8-4479-EF4C-DF8F-28BE65811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607A6A4-76E0-0149-5FC8-6E5BD096FA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24B3DEF-7C33-FD87-ECC6-65DD6EF85C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3D8F49B-AFDE-7774-4053-C85C976E25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D960181-970D-25D4-CF16-31220CDC7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AE6E-1DF2-472F-BDDF-3AA331D50381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5102B9C-00A7-B341-E89A-1DA84A260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C7166F9-CD52-1637-439D-D8F5918EF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EE11-6F8F-4953-A80D-6E67A04AFF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89054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5020BA-1759-9C51-5AEA-8E06F97A7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2DCC76C-D27C-C8A6-F776-977A87764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AE6E-1DF2-472F-BDDF-3AA331D50381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DB75BB3-FE99-0121-28F2-84B779E41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D53FCDC-8EE8-92D0-4715-6561C09DE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EE11-6F8F-4953-A80D-6E67A04AFF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78878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12B3299-CCFB-C11F-3F2C-8DCD48D28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AE6E-1DF2-472F-BDDF-3AA331D50381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5C95106-5EAE-A8D6-1D54-589EB0AAE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B0D52B3-C003-BFA4-14BB-6D8B84CB5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EE11-6F8F-4953-A80D-6E67A04AFF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38685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41C678-A5B1-A7DC-C3D7-13D2B8DF7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A46045A-443D-38C3-87EF-65DE65452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C8AE853-46A6-38CB-F743-4D1FFFC4B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0B9B746-9F39-6ABC-B9C8-BA11734E4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AE6E-1DF2-472F-BDDF-3AA331D50381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57918CC-06B4-71E1-ACC5-6555523BB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3FC09B2-C30E-7768-50AA-56138458E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EE11-6F8F-4953-A80D-6E67A04AFF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2864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C8DCBB-6598-FFA9-457E-D9A71265C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CBEFB78-E661-92F4-E07D-42F5FBF480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AFE2999-F11C-0C69-26BF-F1BA132871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5DE0D56-321D-54E2-2E2F-5E757BB80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AE6E-1DF2-472F-BDDF-3AA331D50381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6E5AEB9-0A71-3830-D22F-A90835122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95CB02B-F478-83D0-E5AC-083EEB0C5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EE11-6F8F-4953-A80D-6E67A04AFF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67742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E405A6-D4F7-B031-CA2F-65D5E1D05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C43FB2E-7D60-7DE7-4956-FB9E511C32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B02A77-772B-7E00-B4C0-6C7DCE6F1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AE6E-1DF2-472F-BDDF-3AA331D50381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C249CFA-EDD4-561B-9836-A2B62888D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00E706-1775-8111-D7E8-DF57A07AF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EE11-6F8F-4953-A80D-6E67A04AFF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53189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12691FB-8732-EF64-7E1A-FA2F67315D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7193F5C-EB9A-4BFF-8AF9-99EE0CD3BF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BD628B-148C-B227-4F23-FE406029C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AE6E-1DF2-472F-BDDF-3AA331D50381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5C757D-06B7-6993-2823-B14F93F29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5C4C94-1576-312D-C6E2-AFF503D91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EE11-6F8F-4953-A80D-6E67A04AFF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96538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285AB7-6329-9E03-C7DE-4149D83C9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7C3FE5C-D532-A3D7-221D-A604317E3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AE6E-1DF2-472F-BDDF-3AA331D50381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90120F7-2D07-210D-FDC8-44E5AB736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BD2D4D7-5FB3-9A97-4981-9A9E5B676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0EE11-6F8F-4953-A80D-6E67A04AFF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0845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C4FBEF6-2D6E-0ECB-7179-F3817B2DA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933152C-4C58-37DE-AAFF-78B034A40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951DF00-3D5B-B14D-E9CB-249621C916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4F83C1-7DF4-4336-8FCB-0C0C0EFB964A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B9A545-3027-5863-3D43-D544EF73FD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57D1D42-6931-1BE3-6D78-E7E6694846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F5C8F7-7873-45F5-AE76-7B2041D88B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7575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bg1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bg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bg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bg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bg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bg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56277A3-1204-05F9-380E-1631579C0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54954E2-8DDD-5D96-5FDA-AC6D1A492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1E8E860-1638-FFA9-A217-69D603B933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D0AE6E-1DF2-472F-BDDF-3AA331D50381}" type="datetimeFigureOut">
              <a:rPr kumimoji="1" lang="ja-JP" altLang="en-US" smtClean="0"/>
              <a:t>2026/3/14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29F675E-982F-F4DA-EB78-06C49C8DC3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251F31-150B-02FD-30BD-E80A7D3C65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0EE11-6F8F-4953-A80D-6E67A04AFF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3540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字幕 2">
            <a:extLst>
              <a:ext uri="{FF2B5EF4-FFF2-40B4-BE49-F238E27FC236}">
                <a16:creationId xmlns:a16="http://schemas.microsoft.com/office/drawing/2014/main" id="{E2887968-9681-C8BB-5EC6-1FC7ACADCC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91711" y="5232899"/>
            <a:ext cx="2900289" cy="702676"/>
          </a:xfrm>
        </p:spPr>
        <p:txBody>
          <a:bodyPr/>
          <a:lstStyle/>
          <a:p>
            <a:r>
              <a:rPr kumimoji="1" lang="ja-JP" altLang="en-US" dirty="0"/>
              <a:t>中村　哲久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D3E47AA-94F8-D78A-E6DF-2B41F6A9C550}"/>
              </a:ext>
            </a:extLst>
          </p:cNvPr>
          <p:cNvSpPr/>
          <p:nvPr/>
        </p:nvSpPr>
        <p:spPr>
          <a:xfrm>
            <a:off x="9113520" y="0"/>
            <a:ext cx="604911" cy="68580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075C01F-A54A-0D40-31BE-988806998E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074275"/>
            <a:ext cx="12192000" cy="1435687"/>
          </a:xfrm>
          <a:solidFill>
            <a:srgbClr val="FFC000"/>
          </a:solidFill>
        </p:spPr>
        <p:txBody>
          <a:bodyPr>
            <a:normAutofit/>
          </a:bodyPr>
          <a:lstStyle/>
          <a:p>
            <a:r>
              <a:rPr kumimoji="1" lang="ja-JP" altLang="en-US" sz="8000" b="1" spc="300" dirty="0"/>
              <a:t>救急臨床推論</a:t>
            </a:r>
          </a:p>
        </p:txBody>
      </p:sp>
    </p:spTree>
    <p:extLst>
      <p:ext uri="{BB962C8B-B14F-4D97-AF65-F5344CB8AC3E}">
        <p14:creationId xmlns:p14="http://schemas.microsoft.com/office/powerpoint/2010/main" val="1989732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A9F506-9A03-13F2-6708-0A2945295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kumimoji="1" lang="ja-JP" altLang="en-US" dirty="0"/>
              <a:t>自己受診と救急要請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17CE03D-7210-DB65-0586-8D24573707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5625"/>
            <a:ext cx="3829987" cy="3829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担架で搬送される人のイラスト">
            <a:extLst>
              <a:ext uri="{FF2B5EF4-FFF2-40B4-BE49-F238E27FC236}">
                <a16:creationId xmlns:a16="http://schemas.microsoft.com/office/drawing/2014/main" id="{74BF9462-5935-2B98-62EB-4AA7112AEE1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199" y="2198037"/>
            <a:ext cx="3810000" cy="3457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4919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836528-34B6-C0E5-EBC9-4216FBF40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kumimoji="1" lang="ja-JP" altLang="en-US" dirty="0"/>
              <a:t>重症度と緊急度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FBF06B7-4B86-D389-5074-F4DEAFF7D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25443" cy="4884664"/>
          </a:xfrm>
        </p:spPr>
        <p:txBody>
          <a:bodyPr>
            <a:normAutofit/>
          </a:bodyPr>
          <a:lstStyle/>
          <a:p>
            <a:r>
              <a:rPr kumimoji="1" lang="ja-JP" altLang="en-US" dirty="0">
                <a:solidFill>
                  <a:srgbClr val="FFFF00"/>
                </a:solidFill>
              </a:rPr>
              <a:t>重症度</a:t>
            </a:r>
            <a:endParaRPr kumimoji="1" lang="en-US" altLang="ja-JP" dirty="0">
              <a:solidFill>
                <a:srgbClr val="FFFF00"/>
              </a:solidFill>
            </a:endParaRPr>
          </a:p>
          <a:p>
            <a:r>
              <a:rPr lang="ja-JP" altLang="en-US" dirty="0"/>
              <a:t>病態が予後（生命予後、機能予後）に影響する</a:t>
            </a:r>
            <a:endParaRPr lang="en-US" altLang="ja-JP" dirty="0"/>
          </a:p>
          <a:p>
            <a:r>
              <a:rPr kumimoji="1" lang="ja-JP" altLang="en-US" dirty="0"/>
              <a:t>時間の因子は無関係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>
                <a:solidFill>
                  <a:srgbClr val="FFFF00"/>
                </a:solidFill>
              </a:rPr>
              <a:t>緊急度</a:t>
            </a:r>
            <a:endParaRPr kumimoji="1" lang="en-US" altLang="ja-JP" dirty="0">
              <a:solidFill>
                <a:srgbClr val="FFFF00"/>
              </a:solidFill>
            </a:endParaRPr>
          </a:p>
          <a:p>
            <a:r>
              <a:rPr lang="ja-JP" altLang="en-US" dirty="0"/>
              <a:t>時間的経過が予後に影響する程度</a:t>
            </a:r>
            <a:endParaRPr lang="en-US" altLang="ja-JP" dirty="0"/>
          </a:p>
          <a:p>
            <a:r>
              <a:rPr lang="ja-JP" altLang="en-US" dirty="0"/>
              <a:t>時間的猶予がない</a:t>
            </a:r>
            <a:endParaRPr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3091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6BF3D6-F44F-E8EB-76EE-D0C7D3368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ja-JP" altLang="en-US" dirty="0"/>
              <a:t>救急隊　救急救命士に求められること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C0C5B6-0627-7968-6B15-5E489939C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79"/>
            <a:ext cx="10515600" cy="416528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kumimoji="1" lang="ja-JP" altLang="en-US" sz="4400" dirty="0"/>
              <a:t>確定診断はできない</a:t>
            </a:r>
            <a:endParaRPr kumimoji="1" lang="en-US" altLang="ja-JP" sz="4400" dirty="0"/>
          </a:p>
          <a:p>
            <a:pPr marL="0" indent="0">
              <a:buNone/>
            </a:pPr>
            <a:r>
              <a:rPr lang="ja-JP" altLang="en-US" sz="4400" dirty="0"/>
              <a:t>傷病の診断を行うために必要な情報を</a:t>
            </a:r>
            <a:endParaRPr lang="en-US" altLang="ja-JP" sz="4400" dirty="0"/>
          </a:p>
          <a:p>
            <a:pPr marL="0" indent="0">
              <a:buNone/>
            </a:pPr>
            <a:r>
              <a:rPr lang="ja-JP" altLang="en-US" sz="4400" dirty="0"/>
              <a:t>集められない</a:t>
            </a:r>
            <a:endParaRPr lang="en-US" altLang="ja-JP" sz="4400" dirty="0"/>
          </a:p>
          <a:p>
            <a:pPr marL="0" indent="0">
              <a:buNone/>
            </a:pPr>
            <a:endParaRPr kumimoji="1" lang="en-US" altLang="ja-JP" sz="4400" dirty="0"/>
          </a:p>
          <a:p>
            <a:pPr marL="0" indent="0">
              <a:buNone/>
            </a:pPr>
            <a:r>
              <a:rPr lang="ja-JP" altLang="en-US" sz="4400" dirty="0">
                <a:solidFill>
                  <a:srgbClr val="FFC000"/>
                </a:solidFill>
              </a:rPr>
              <a:t>緊急度を適切に判断する</a:t>
            </a:r>
            <a:endParaRPr lang="en-US" altLang="ja-JP" sz="4400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55130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0A44F4-828D-45F3-0658-8F91F134A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0718"/>
            <a:ext cx="12192000" cy="1325563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kumimoji="1" lang="ja-JP" altLang="en-US" dirty="0"/>
              <a:t>オーバートリアージとアンダートリアージ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28ADAA-31AE-B1EB-12C0-D95441DC7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366" y="1999796"/>
            <a:ext cx="11901268" cy="4351338"/>
          </a:xfrm>
        </p:spPr>
        <p:txBody>
          <a:bodyPr/>
          <a:lstStyle/>
          <a:p>
            <a:r>
              <a:rPr lang="ja-JP" altLang="en-US" dirty="0">
                <a:solidFill>
                  <a:srgbClr val="FFFF00"/>
                </a:solidFill>
              </a:rPr>
              <a:t>オーバートリアージ</a:t>
            </a:r>
            <a:endParaRPr lang="en-US" altLang="ja-JP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kumimoji="1" lang="ja-JP" altLang="en-US" dirty="0"/>
              <a:t>過大評価→医療機関の機能マヒ→本来の役割分担を破壊→傷病者の死亡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>
                <a:solidFill>
                  <a:srgbClr val="FFFF00"/>
                </a:solidFill>
              </a:rPr>
              <a:t>アンダートリアージ</a:t>
            </a:r>
            <a:endParaRPr kumimoji="1" lang="en-US" altLang="ja-JP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ja-JP" altLang="en-US" dirty="0"/>
              <a:t>過小評価→不適切な医療機関選定→手遅れ→傷病者の死亡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22194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3671A8-2432-C6D4-1ED6-DC85FD893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緊急度分類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F1C9B48-12C3-7632-68C5-C0923855C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6840" y="1690688"/>
            <a:ext cx="10515600" cy="4351338"/>
          </a:xfrm>
        </p:spPr>
        <p:txBody>
          <a:bodyPr/>
          <a:lstStyle/>
          <a:p>
            <a:r>
              <a:rPr kumimoji="1" lang="ja-JP" altLang="en-US" dirty="0"/>
              <a:t>総務省消防庁</a:t>
            </a:r>
            <a:endParaRPr kumimoji="1" lang="en-US" altLang="ja-JP" dirty="0"/>
          </a:p>
          <a:p>
            <a:r>
              <a:rPr lang="ja-JP" altLang="en-US" dirty="0"/>
              <a:t>緊急度判定プロトコル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D26160D-CC84-3B63-9495-4242B23A4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3624" y="989207"/>
            <a:ext cx="4457721" cy="5503667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28841620-E4ED-BAE7-5CCE-2448B4F32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1411" y="3185648"/>
            <a:ext cx="3307227" cy="3307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324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CEE14B-96B6-E7EE-3C4C-C2A71DA66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kumimoji="1" lang="ja-JP" altLang="en-US" dirty="0"/>
              <a:t>救急救命士に求められること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9EA38A2-4FE3-1952-BC34-C6914B349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sz="4400" dirty="0"/>
              <a:t>早期搬送</a:t>
            </a:r>
            <a:endParaRPr kumimoji="1" lang="en-US" altLang="ja-JP" sz="4400" dirty="0"/>
          </a:p>
          <a:p>
            <a:r>
              <a:rPr lang="ja-JP" altLang="en-US" sz="4400" dirty="0"/>
              <a:t>根本的な治療は医療機関でしかできない</a:t>
            </a:r>
            <a:endParaRPr lang="en-US" altLang="ja-JP" sz="4400" dirty="0"/>
          </a:p>
          <a:p>
            <a:r>
              <a:rPr kumimoji="1" lang="ja-JP" altLang="en-US" sz="4400" dirty="0"/>
              <a:t>早期搬送は重要な処置の一つになりえる</a:t>
            </a:r>
            <a:endParaRPr kumimoji="1" lang="en-US" altLang="ja-JP" sz="4400" dirty="0"/>
          </a:p>
          <a:p>
            <a:r>
              <a:rPr lang="ja-JP" altLang="en-US" sz="4400" dirty="0"/>
              <a:t>傷病者は一刻も早く医療機関に行きたい</a:t>
            </a:r>
            <a:endParaRPr lang="en-US" altLang="ja-JP" sz="4400" dirty="0"/>
          </a:p>
          <a:p>
            <a:endParaRPr kumimoji="1"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35495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4C703F-7965-788F-E9F0-6F440D13E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kumimoji="1" lang="ja-JP" altLang="en-US" dirty="0"/>
              <a:t>救急救命士に求められること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A1E49BD-918F-7A04-CB16-EB9C009A0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609" y="1825624"/>
            <a:ext cx="11915336" cy="5032375"/>
          </a:xfrm>
        </p:spPr>
        <p:txBody>
          <a:bodyPr>
            <a:normAutofit lnSpcReduction="10000"/>
          </a:bodyPr>
          <a:lstStyle/>
          <a:p>
            <a:r>
              <a:rPr kumimoji="1" lang="ja-JP" altLang="en-US" sz="4000" dirty="0"/>
              <a:t>医療機関選定</a:t>
            </a:r>
            <a:endParaRPr kumimoji="1" lang="en-US" altLang="ja-JP" sz="4000" dirty="0"/>
          </a:p>
          <a:p>
            <a:r>
              <a:rPr lang="ja-JP" altLang="en-US" sz="4000" dirty="0"/>
              <a:t>傷病者に必要不可欠な医療が何かわかっていて、それが対応できる医療機関を選択する</a:t>
            </a:r>
            <a:endParaRPr kumimoji="1" lang="en-US" altLang="ja-JP" sz="4000" dirty="0"/>
          </a:p>
          <a:p>
            <a:r>
              <a:rPr lang="ja-JP" altLang="en-US" sz="4000" dirty="0"/>
              <a:t>なんでもかんでも救命センターに搬送しない</a:t>
            </a:r>
            <a:endParaRPr lang="en-US" altLang="ja-JP" sz="4000" dirty="0"/>
          </a:p>
          <a:p>
            <a:r>
              <a:rPr lang="ja-JP" altLang="en-US" sz="4000" dirty="0"/>
              <a:t>適応のある救急救命処置は実施する</a:t>
            </a:r>
            <a:endParaRPr lang="en-US" altLang="ja-JP" sz="4000" dirty="0"/>
          </a:p>
          <a:p>
            <a:r>
              <a:rPr kumimoji="1" lang="ja-JP" altLang="en-US" sz="4000" dirty="0"/>
              <a:t>適応があることを傷病者や家族に説明する</a:t>
            </a:r>
            <a:endParaRPr kumimoji="1" lang="en-US" altLang="ja-JP" sz="4000" dirty="0"/>
          </a:p>
          <a:p>
            <a:endParaRPr kumimoji="1" lang="ja-JP" altLang="en-US" sz="4000" dirty="0"/>
          </a:p>
        </p:txBody>
      </p:sp>
    </p:spTree>
    <p:extLst>
      <p:ext uri="{BB962C8B-B14F-4D97-AF65-F5344CB8AC3E}">
        <p14:creationId xmlns:p14="http://schemas.microsoft.com/office/powerpoint/2010/main" val="60972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B6F430-EF4E-8C4C-C876-18D40F268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kumimoji="1" lang="ja-JP" altLang="en-US" dirty="0"/>
              <a:t>救急救命士の</a:t>
            </a:r>
            <a:r>
              <a:rPr lang="ja-JP" altLang="en-US" dirty="0"/>
              <a:t>やること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75027A-FA5F-CB44-7C73-470878180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302" y="1825624"/>
            <a:ext cx="10875498" cy="5032375"/>
          </a:xfrm>
        </p:spPr>
        <p:txBody>
          <a:bodyPr>
            <a:normAutofit fontScale="92500"/>
          </a:bodyPr>
          <a:lstStyle/>
          <a:p>
            <a:r>
              <a:rPr kumimoji="1" lang="ja-JP" altLang="en-US" sz="4400" dirty="0"/>
              <a:t>初期評価</a:t>
            </a:r>
            <a:endParaRPr kumimoji="1" lang="en-US" altLang="ja-JP" sz="4400" dirty="0"/>
          </a:p>
          <a:p>
            <a:r>
              <a:rPr lang="ja-JP" altLang="en-US" sz="4400" dirty="0"/>
              <a:t>生理学的評価</a:t>
            </a:r>
            <a:endParaRPr lang="en-US" altLang="ja-JP" sz="4400" dirty="0"/>
          </a:p>
          <a:p>
            <a:r>
              <a:rPr kumimoji="1" lang="ja-JP" altLang="en-US" sz="4400" dirty="0"/>
              <a:t>緊急度の判断　ロード＆ゴー</a:t>
            </a:r>
            <a:endParaRPr kumimoji="1" lang="en-US" altLang="ja-JP" sz="4400" dirty="0"/>
          </a:p>
          <a:p>
            <a:r>
              <a:rPr lang="ja-JP" altLang="en-US" sz="4400" dirty="0"/>
              <a:t>医療機関選定→呼吸循環管理対応医療機関　</a:t>
            </a:r>
            <a:endParaRPr lang="en-US" altLang="ja-JP" sz="4400" dirty="0"/>
          </a:p>
          <a:p>
            <a:r>
              <a:rPr kumimoji="1" lang="ja-JP" altLang="en-US" sz="4400" dirty="0"/>
              <a:t>観察基準表</a:t>
            </a:r>
            <a:r>
              <a:rPr kumimoji="1" lang="en-US" altLang="ja-JP" sz="4400" dirty="0"/>
              <a:t>B</a:t>
            </a:r>
            <a:r>
              <a:rPr kumimoji="1" lang="ja-JP" altLang="en-US" sz="4400" dirty="0"/>
              <a:t>の医療機関</a:t>
            </a:r>
          </a:p>
        </p:txBody>
      </p:sp>
    </p:spTree>
    <p:extLst>
      <p:ext uri="{BB962C8B-B14F-4D97-AF65-F5344CB8AC3E}">
        <p14:creationId xmlns:p14="http://schemas.microsoft.com/office/powerpoint/2010/main" val="1928793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B6F430-EF4E-8C4C-C876-18D40F268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kumimoji="1" lang="ja-JP" altLang="en-US" dirty="0"/>
              <a:t>救急救命士の</a:t>
            </a:r>
            <a:r>
              <a:rPr lang="ja-JP" altLang="en-US" dirty="0"/>
              <a:t>やること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75027A-FA5F-CB44-7C73-470878180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1999" cy="4870597"/>
          </a:xfrm>
        </p:spPr>
        <p:txBody>
          <a:bodyPr>
            <a:normAutofit/>
          </a:bodyPr>
          <a:lstStyle/>
          <a:p>
            <a:r>
              <a:rPr lang="ja-JP" altLang="en-US" sz="4000" dirty="0"/>
              <a:t>全身観察</a:t>
            </a:r>
            <a:endParaRPr lang="en-US" altLang="ja-JP" sz="4000" dirty="0"/>
          </a:p>
          <a:p>
            <a:r>
              <a:rPr kumimoji="1" lang="ja-JP" altLang="en-US" sz="4000" dirty="0"/>
              <a:t>生理学的評価の異常がどこの臓器からくるのか探る</a:t>
            </a:r>
            <a:endParaRPr kumimoji="1" lang="en-US" altLang="ja-JP" sz="4000" dirty="0"/>
          </a:p>
          <a:p>
            <a:r>
              <a:rPr lang="ja-JP" altLang="en-US" sz="4000" dirty="0"/>
              <a:t>原因となる傷病を推察する</a:t>
            </a:r>
            <a:endParaRPr lang="en-US" altLang="ja-JP" sz="4000" dirty="0"/>
          </a:p>
          <a:p>
            <a:r>
              <a:rPr kumimoji="1" lang="ja-JP" altLang="en-US" sz="4000" dirty="0"/>
              <a:t>推測した傷病を最速で提供できる医療機関を選択 する</a:t>
            </a:r>
            <a:endParaRPr kumimoji="1" lang="en-US" altLang="ja-JP" sz="4000" dirty="0"/>
          </a:p>
        </p:txBody>
      </p:sp>
    </p:spTree>
    <p:extLst>
      <p:ext uri="{BB962C8B-B14F-4D97-AF65-F5344CB8AC3E}">
        <p14:creationId xmlns:p14="http://schemas.microsoft.com/office/powerpoint/2010/main" val="1536341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B6F430-EF4E-8C4C-C876-18D40F268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21583"/>
            <a:ext cx="12192000" cy="1325563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kumimoji="1" lang="ja-JP" altLang="en-US" dirty="0"/>
              <a:t>救急救命士の</a:t>
            </a:r>
            <a:r>
              <a:rPr lang="ja-JP" altLang="en-US" dirty="0"/>
              <a:t>やること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75027A-FA5F-CB44-7C73-470878180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69" y="1825624"/>
            <a:ext cx="11338559" cy="4856529"/>
          </a:xfrm>
        </p:spPr>
        <p:txBody>
          <a:bodyPr>
            <a:normAutofit/>
          </a:bodyPr>
          <a:lstStyle/>
          <a:p>
            <a:r>
              <a:rPr lang="ja-JP" altLang="en-US" sz="5400" dirty="0"/>
              <a:t>救急救命処置</a:t>
            </a:r>
            <a:endParaRPr lang="en-US" altLang="ja-JP" sz="5400" dirty="0"/>
          </a:p>
          <a:p>
            <a:r>
              <a:rPr lang="ja-JP" altLang="en-US" sz="5400" dirty="0"/>
              <a:t>容体を悪くしないための対策</a:t>
            </a:r>
            <a:endParaRPr lang="en-US" altLang="ja-JP" sz="5400" dirty="0"/>
          </a:p>
          <a:p>
            <a:r>
              <a:rPr lang="ja-JP" altLang="en-US" sz="5400" dirty="0"/>
              <a:t>適応のある処置は必ず実施する</a:t>
            </a:r>
            <a:endParaRPr lang="en-US" altLang="ja-JP" sz="5400" dirty="0"/>
          </a:p>
          <a:p>
            <a:r>
              <a:rPr lang="ja-JP" altLang="en-US" sz="5400" dirty="0"/>
              <a:t>そのための説明を行う</a:t>
            </a:r>
            <a:endParaRPr lang="en-US" altLang="ja-JP" sz="5400" dirty="0"/>
          </a:p>
        </p:txBody>
      </p:sp>
    </p:spTree>
    <p:extLst>
      <p:ext uri="{BB962C8B-B14F-4D97-AF65-F5344CB8AC3E}">
        <p14:creationId xmlns:p14="http://schemas.microsoft.com/office/powerpoint/2010/main" val="843157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1CDAF1-07EC-017C-D790-E40C81CC9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kumimoji="1" lang="ja-JP" altLang="en-US" dirty="0"/>
              <a:t>救急医療体制と救急救命士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5ED1B50-E5DF-82D2-031A-FC4786FF3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39" y="1729691"/>
            <a:ext cx="11016175" cy="512830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kumimoji="1" lang="ja-JP" altLang="en-US" dirty="0"/>
              <a:t>救急医療体制</a:t>
            </a:r>
            <a:endParaRPr kumimoji="1" lang="en-US" altLang="ja-JP" dirty="0"/>
          </a:p>
          <a:p>
            <a:r>
              <a:rPr lang="ja-JP" altLang="en-US" dirty="0">
                <a:solidFill>
                  <a:srgbClr val="FFC000"/>
                </a:solidFill>
              </a:rPr>
              <a:t>初期医療機関</a:t>
            </a:r>
            <a:endParaRPr lang="en-US" altLang="ja-JP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kumimoji="1" lang="ja-JP" altLang="en-US" dirty="0"/>
              <a:t>　　外来診療</a:t>
            </a:r>
            <a:endParaRPr kumimoji="1" lang="en-US" altLang="ja-JP" dirty="0"/>
          </a:p>
          <a:p>
            <a:r>
              <a:rPr lang="ja-JP" altLang="en-US" dirty="0">
                <a:solidFill>
                  <a:srgbClr val="FFC000"/>
                </a:solidFill>
              </a:rPr>
              <a:t>二次医療機関</a:t>
            </a:r>
            <a:endParaRPr lang="en-US" altLang="ja-JP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kumimoji="1" lang="ja-JP" altLang="en-US" dirty="0"/>
              <a:t>　　入院診療</a:t>
            </a:r>
            <a:endParaRPr kumimoji="1" lang="en-US" altLang="ja-JP" dirty="0"/>
          </a:p>
          <a:p>
            <a:r>
              <a:rPr lang="ja-JP" altLang="en-US" dirty="0">
                <a:solidFill>
                  <a:srgbClr val="FFC000"/>
                </a:solidFill>
              </a:rPr>
              <a:t>三次医療機関</a:t>
            </a:r>
            <a:endParaRPr lang="en-US" altLang="ja-JP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kumimoji="1" lang="ja-JP" altLang="en-US" dirty="0"/>
              <a:t>　　呼吸循環管理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　集中治療室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63C5937-9495-AEC4-F375-EC13CA93B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4481" y="2050025"/>
            <a:ext cx="7169291" cy="4171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880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6CDBBF-14E3-4D63-623C-31C4A0476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kumimoji="1" lang="ja-JP" altLang="en-US" dirty="0"/>
              <a:t>救急医療体制と救急救命士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BF71981-F608-9EBF-0586-285521FEE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026834" cy="5199289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kumimoji="1" lang="ja-JP" altLang="en-US" dirty="0"/>
              <a:t>消防法改正後　消防法第</a:t>
            </a:r>
            <a:r>
              <a:rPr kumimoji="1" lang="en-US" altLang="ja-JP" dirty="0"/>
              <a:t>35</a:t>
            </a:r>
            <a:r>
              <a:rPr kumimoji="1" lang="ja-JP" altLang="en-US" dirty="0"/>
              <a:t>条の５　第</a:t>
            </a:r>
            <a:r>
              <a:rPr kumimoji="1" lang="en-US" altLang="ja-JP" dirty="0"/>
              <a:t>2</a:t>
            </a:r>
            <a:r>
              <a:rPr kumimoji="1" lang="ja-JP" altLang="en-US" dirty="0"/>
              <a:t>項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医療機関による機能による分類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>
                <a:solidFill>
                  <a:srgbClr val="FFC000"/>
                </a:solidFill>
              </a:rPr>
              <a:t>専門診療科</a:t>
            </a:r>
            <a:endParaRPr lang="en-US" altLang="ja-JP" dirty="0">
              <a:solidFill>
                <a:srgbClr val="FFC000"/>
              </a:solidFill>
            </a:endParaRPr>
          </a:p>
          <a:p>
            <a:r>
              <a:rPr lang="ja-JP" altLang="en-US" dirty="0"/>
              <a:t>診療技術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　高度医療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　集中治療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　カテーテル治療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　　緊急手術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　　特殊医療（熱傷・中毒）　　　　　　</a:t>
            </a:r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713511F4-28ED-484B-6DFA-CFE90D88EBB4}"/>
              </a:ext>
            </a:extLst>
          </p:cNvPr>
          <p:cNvSpPr txBox="1">
            <a:spLocks/>
          </p:cNvSpPr>
          <p:nvPr/>
        </p:nvSpPr>
        <p:spPr>
          <a:xfrm>
            <a:off x="0" y="3947800"/>
            <a:ext cx="12192000" cy="1325563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j-cs"/>
              </a:defRPr>
            </a:lvl1pPr>
          </a:lstStyle>
          <a:p>
            <a:r>
              <a:rPr lang="ja-JP" altLang="en-US" dirty="0"/>
              <a:t>傷病者の重症度と原因疾患から病院を選定する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E3782DB-4291-1874-2224-0529D3C4591E}"/>
              </a:ext>
            </a:extLst>
          </p:cNvPr>
          <p:cNvSpPr txBox="1"/>
          <p:nvPr/>
        </p:nvSpPr>
        <p:spPr>
          <a:xfrm>
            <a:off x="6096000" y="5626013"/>
            <a:ext cx="59377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5400" dirty="0">
                <a:solidFill>
                  <a:srgbClr val="FFC000"/>
                </a:solidFill>
              </a:rPr>
              <a:t>茨城県観察基準表</a:t>
            </a:r>
          </a:p>
        </p:txBody>
      </p:sp>
    </p:spTree>
    <p:extLst>
      <p:ext uri="{BB962C8B-B14F-4D97-AF65-F5344CB8AC3E}">
        <p14:creationId xmlns:p14="http://schemas.microsoft.com/office/powerpoint/2010/main" val="3483215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FF499D-DBF1-9011-6481-72431832C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kumimoji="1" lang="ja-JP" altLang="en-US" dirty="0"/>
              <a:t>今後の救急救命士に求められること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1F90C4B-47B1-A788-72C0-22B428DB6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3" y="1825624"/>
            <a:ext cx="11713029" cy="4865461"/>
          </a:xfrm>
        </p:spPr>
        <p:txBody>
          <a:bodyPr>
            <a:normAutofit/>
          </a:bodyPr>
          <a:lstStyle/>
          <a:p>
            <a:r>
              <a:rPr kumimoji="1" lang="ja-JP" altLang="en-US" sz="3200" dirty="0"/>
              <a:t>傷病者に何が起こっているか知る</a:t>
            </a:r>
            <a:endParaRPr kumimoji="1" lang="en-US" altLang="ja-JP" sz="3200" dirty="0"/>
          </a:p>
          <a:p>
            <a:r>
              <a:rPr lang="ja-JP" altLang="en-US" sz="3200" dirty="0"/>
              <a:t>救急救命士の臨床推論</a:t>
            </a:r>
            <a:endParaRPr lang="en-US" altLang="ja-JP" sz="3200" dirty="0"/>
          </a:p>
          <a:p>
            <a:r>
              <a:rPr kumimoji="1" lang="ja-JP" altLang="en-US" sz="3200" dirty="0"/>
              <a:t>傷病者に必要な医療は何か</a:t>
            </a:r>
            <a:endParaRPr kumimoji="1" lang="en-US" altLang="ja-JP" sz="3200" dirty="0"/>
          </a:p>
          <a:p>
            <a:r>
              <a:rPr lang="ja-JP" altLang="en-US" sz="3200" dirty="0"/>
              <a:t>本来は医療機関選択権は傷病者にある→救急救命士の介入</a:t>
            </a:r>
            <a:endParaRPr lang="en-US" altLang="ja-JP" sz="3200" dirty="0"/>
          </a:p>
          <a:p>
            <a:pPr marL="0" indent="0">
              <a:buNone/>
            </a:pPr>
            <a:r>
              <a:rPr kumimoji="1" lang="ja-JP" altLang="en-US" sz="3200" dirty="0"/>
              <a:t> ⇒傷病者の介入に必要不可欠な医療は何かを見出し、それを</a:t>
            </a:r>
            <a:endParaRPr kumimoji="1" lang="en-US" altLang="ja-JP" sz="3200" dirty="0"/>
          </a:p>
          <a:p>
            <a:pPr marL="0" indent="0">
              <a:buNone/>
            </a:pPr>
            <a:r>
              <a:rPr kumimoji="1" lang="ja-JP" altLang="en-US" sz="3200" dirty="0"/>
              <a:t>    提供できる医療機関を選定する</a:t>
            </a:r>
          </a:p>
        </p:txBody>
      </p:sp>
    </p:spTree>
    <p:extLst>
      <p:ext uri="{BB962C8B-B14F-4D97-AF65-F5344CB8AC3E}">
        <p14:creationId xmlns:p14="http://schemas.microsoft.com/office/powerpoint/2010/main" val="176854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10D971-AAF9-7683-A3E2-40400371B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kumimoji="1" lang="ja-JP" altLang="en-US" dirty="0"/>
              <a:t>救急救命士に求められること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340241-C2C5-511C-72A4-FE912A2E0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857" y="1825625"/>
            <a:ext cx="11466285" cy="4836432"/>
          </a:xfrm>
        </p:spPr>
        <p:txBody>
          <a:bodyPr>
            <a:normAutofit fontScale="92500" lnSpcReduction="20000"/>
          </a:bodyPr>
          <a:lstStyle/>
          <a:p>
            <a:r>
              <a:rPr kumimoji="1" lang="ja-JP" altLang="en-US" sz="3600" dirty="0"/>
              <a:t>病院前救護の標準化</a:t>
            </a:r>
            <a:endParaRPr kumimoji="1" lang="en-US" altLang="ja-JP" sz="3600" dirty="0"/>
          </a:p>
          <a:p>
            <a:r>
              <a:rPr lang="ja-JP" altLang="en-US" sz="3600" dirty="0"/>
              <a:t>プロトコル</a:t>
            </a:r>
            <a:endParaRPr lang="en-US" altLang="ja-JP" sz="3600" dirty="0"/>
          </a:p>
          <a:p>
            <a:r>
              <a:rPr kumimoji="1" lang="ja-JP" altLang="en-US" sz="3600" dirty="0"/>
              <a:t>救急救命処置</a:t>
            </a:r>
            <a:endParaRPr kumimoji="1" lang="en-US" altLang="ja-JP" sz="3600" dirty="0"/>
          </a:p>
          <a:p>
            <a:r>
              <a:rPr lang="ja-JP" altLang="en-US" sz="3600" dirty="0"/>
              <a:t>救急活動</a:t>
            </a:r>
            <a:endParaRPr lang="en-US" altLang="ja-JP" sz="3600" dirty="0"/>
          </a:p>
          <a:p>
            <a:r>
              <a:rPr kumimoji="1" lang="ja-JP" altLang="en-US" sz="3600" dirty="0"/>
              <a:t>根本的医療は医療機関で行われる</a:t>
            </a:r>
            <a:endParaRPr kumimoji="1" lang="en-US" altLang="ja-JP" sz="3600" dirty="0"/>
          </a:p>
          <a:p>
            <a:r>
              <a:rPr lang="ja-JP" altLang="en-US" sz="3600" dirty="0"/>
              <a:t>早期搬送は重要な処置の一つ</a:t>
            </a:r>
            <a:endParaRPr lang="en-US" altLang="ja-JP" sz="3600" dirty="0"/>
          </a:p>
          <a:p>
            <a:r>
              <a:rPr kumimoji="1" lang="ja-JP" altLang="en-US" sz="3600" dirty="0"/>
              <a:t>傷病者</a:t>
            </a:r>
            <a:r>
              <a:rPr lang="ja-JP" altLang="en-US" sz="3600" dirty="0"/>
              <a:t>は一刻も早く医療機関へ行きたい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598831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C6608E2-5210-D481-147C-DCD2BBC1D64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248" y="1844675"/>
            <a:ext cx="3105150" cy="444976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4C6553D3-A86A-B332-5A70-BC0F4FCF2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813" y="1844675"/>
            <a:ext cx="1809750" cy="2649538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914C10BB-6CB1-7BCD-B3D8-0A4F831020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2825" y="1844675"/>
            <a:ext cx="1862138" cy="2649538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754A0A69-5FCD-8354-66CB-E4D6C711E6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4813" y="4564063"/>
            <a:ext cx="1195388" cy="1731963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05605A0F-180D-5282-9A88-CADEEB3F1F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8463" y="4564063"/>
            <a:ext cx="1203325" cy="1731963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59DDAD2D-693D-DC8D-35EC-CE2F1DBFAD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3225" y="4564063"/>
            <a:ext cx="1203325" cy="1731963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B36E0BB1-C564-61B9-CBDD-D6F1D42505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23225" y="1844675"/>
            <a:ext cx="3122613" cy="4449763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1D10D971-AAF9-7683-A3E2-40400371B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z="5200" kern="1200" dirty="0">
                <a:latin typeface="+mj-lt"/>
                <a:ea typeface="+mj-ea"/>
                <a:cs typeface="+mj-cs"/>
              </a:rPr>
              <a:t>病院前救護の標準化</a:t>
            </a:r>
            <a:endParaRPr kumimoji="1" lang="en-US" altLang="ja-JP" sz="5200" kern="12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367428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7CAD57-7174-E9F4-C5AA-C729F957A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kumimoji="1" lang="ja-JP" altLang="en-US" dirty="0"/>
              <a:t>臨床推論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FD97379-0B66-5454-9EFB-53F42E2BF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1999" cy="5032375"/>
          </a:xfrm>
        </p:spPr>
        <p:txBody>
          <a:bodyPr>
            <a:normAutofit fontScale="92500" lnSpcReduction="10000"/>
          </a:bodyPr>
          <a:lstStyle/>
          <a:p>
            <a:r>
              <a:rPr kumimoji="1" lang="ja-JP" altLang="en-US" sz="3600" dirty="0"/>
              <a:t>臨床推論あるいは診断推論</a:t>
            </a:r>
            <a:endParaRPr kumimoji="1" lang="en-US" altLang="ja-JP" sz="3600" dirty="0"/>
          </a:p>
          <a:p>
            <a:r>
              <a:rPr lang="ja-JP" altLang="en-US" sz="3600" dirty="0"/>
              <a:t>診断学、症候学に基づいて鑑別診断を進める</a:t>
            </a:r>
            <a:endParaRPr lang="en-US" altLang="ja-JP" sz="3600" dirty="0"/>
          </a:p>
          <a:p>
            <a:r>
              <a:rPr kumimoji="1" lang="ja-JP" altLang="en-US" sz="3600" dirty="0"/>
              <a:t>診断学：主に問診</a:t>
            </a:r>
            <a:r>
              <a:rPr kumimoji="1" lang="en-US" altLang="ja-JP" sz="3600" dirty="0"/>
              <a:t>(</a:t>
            </a:r>
            <a:r>
              <a:rPr kumimoji="1" lang="ja-JP" altLang="en-US" sz="3600" dirty="0"/>
              <a:t>主訴、現病歴、既往歴</a:t>
            </a:r>
            <a:r>
              <a:rPr kumimoji="1" lang="en-US" altLang="ja-JP" sz="3600" dirty="0"/>
              <a:t>)</a:t>
            </a:r>
            <a:r>
              <a:rPr kumimoji="1" lang="ja-JP" altLang="en-US" sz="3600" dirty="0"/>
              <a:t>から</a:t>
            </a:r>
            <a:endParaRPr kumimoji="1" lang="en-US" altLang="ja-JP" sz="3600" dirty="0"/>
          </a:p>
          <a:p>
            <a:pPr marL="0" indent="0">
              <a:buNone/>
            </a:pPr>
            <a:r>
              <a:rPr kumimoji="1" lang="ja-JP" altLang="en-US" sz="3600" dirty="0"/>
              <a:t>  鑑別診断を行う</a:t>
            </a:r>
            <a:endParaRPr kumimoji="1" lang="en-US" altLang="ja-JP" sz="3600" dirty="0"/>
          </a:p>
          <a:p>
            <a:r>
              <a:rPr lang="ja-JP" altLang="en-US" sz="3600" dirty="0"/>
              <a:t>症候学：主に診察</a:t>
            </a:r>
            <a:r>
              <a:rPr lang="en-US" altLang="ja-JP" sz="3600" dirty="0"/>
              <a:t>(</a:t>
            </a:r>
            <a:r>
              <a:rPr lang="ja-JP" altLang="en-US" sz="3600" dirty="0"/>
              <a:t>視診、触診、聴診、打診</a:t>
            </a:r>
            <a:r>
              <a:rPr lang="en-US" altLang="ja-JP" sz="3600" dirty="0"/>
              <a:t>)</a:t>
            </a:r>
            <a:r>
              <a:rPr lang="ja-JP" altLang="en-US" sz="3600" dirty="0"/>
              <a:t>から</a:t>
            </a:r>
            <a:endParaRPr lang="en-US" altLang="ja-JP" sz="3600" dirty="0"/>
          </a:p>
          <a:p>
            <a:pPr marL="0" indent="0">
              <a:buNone/>
            </a:pPr>
            <a:r>
              <a:rPr lang="en-US" altLang="ja-JP" sz="3600" dirty="0"/>
              <a:t>  </a:t>
            </a:r>
            <a:r>
              <a:rPr lang="ja-JP" altLang="en-US" sz="3600" dirty="0"/>
              <a:t>鑑別診断を行う</a:t>
            </a:r>
            <a:endParaRPr lang="en-US" altLang="ja-JP" sz="3600" dirty="0"/>
          </a:p>
          <a:p>
            <a:r>
              <a:rPr kumimoji="1" lang="ja-JP" altLang="en-US" sz="3600" dirty="0"/>
              <a:t>日常診療の診断で</a:t>
            </a:r>
            <a:r>
              <a:rPr kumimoji="1" lang="en-US" altLang="ja-JP" sz="3600" dirty="0"/>
              <a:t>7</a:t>
            </a:r>
            <a:r>
              <a:rPr kumimoji="1" lang="ja-JP" altLang="en-US" sz="3600" dirty="0"/>
              <a:t>割は病歴で可能</a:t>
            </a:r>
          </a:p>
        </p:txBody>
      </p:sp>
    </p:spTree>
    <p:extLst>
      <p:ext uri="{BB962C8B-B14F-4D97-AF65-F5344CB8AC3E}">
        <p14:creationId xmlns:p14="http://schemas.microsoft.com/office/powerpoint/2010/main" val="16721020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AE51C7-06E5-8C5C-C1FC-007DE8127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kumimoji="1" lang="ja-JP" altLang="en-US" dirty="0"/>
              <a:t>臨床推論の総論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4CB7FBC-9EDD-E8E1-9F5B-E9E826BB6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813" y="1825624"/>
            <a:ext cx="5114387" cy="4926867"/>
          </a:xfrm>
        </p:spPr>
        <p:txBody>
          <a:bodyPr>
            <a:normAutofit/>
          </a:bodyPr>
          <a:lstStyle/>
          <a:p>
            <a:r>
              <a:rPr kumimoji="1" lang="ja-JP" altLang="en-US" sz="4600" dirty="0"/>
              <a:t>臨床推論の基礎</a:t>
            </a:r>
            <a:endParaRPr kumimoji="1" lang="en-US" altLang="ja-JP" sz="4600" dirty="0"/>
          </a:p>
          <a:p>
            <a:pPr marL="0" indent="0">
              <a:buNone/>
            </a:pPr>
            <a:r>
              <a:rPr kumimoji="1" lang="ja-JP" altLang="en-US" sz="4600" dirty="0"/>
              <a:t>  直観的思考</a:t>
            </a:r>
            <a:endParaRPr kumimoji="1" lang="en-US" altLang="ja-JP" sz="4600" dirty="0"/>
          </a:p>
          <a:p>
            <a:pPr marL="0" indent="0">
              <a:buNone/>
            </a:pPr>
            <a:r>
              <a:rPr lang="ja-JP" altLang="en-US" sz="4600" dirty="0"/>
              <a:t>  分析的思考</a:t>
            </a:r>
            <a:endParaRPr lang="en-US" altLang="ja-JP" sz="4600" dirty="0"/>
          </a:p>
          <a:p>
            <a:pPr marL="0" indent="0">
              <a:buNone/>
            </a:pPr>
            <a:r>
              <a:rPr kumimoji="1" lang="ja-JP" altLang="en-US" sz="4600" dirty="0"/>
              <a:t>  症状分析</a:t>
            </a:r>
            <a:endParaRPr kumimoji="1" lang="en-US" altLang="ja-JP" sz="46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D03704B-30D7-A249-4473-0D36F0199049}"/>
              </a:ext>
            </a:extLst>
          </p:cNvPr>
          <p:cNvSpPr txBox="1"/>
          <p:nvPr/>
        </p:nvSpPr>
        <p:spPr>
          <a:xfrm>
            <a:off x="5762170" y="2879053"/>
            <a:ext cx="531222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ja-JP" sz="4800" dirty="0">
                <a:solidFill>
                  <a:schemeClr val="bg1"/>
                </a:solidFill>
              </a:rPr>
              <a:t>OPQRST</a:t>
            </a:r>
          </a:p>
          <a:p>
            <a:pPr>
              <a:lnSpc>
                <a:spcPct val="125000"/>
              </a:lnSpc>
            </a:pPr>
            <a:r>
              <a:rPr lang="en-US" altLang="ja-JP" sz="4800" dirty="0">
                <a:solidFill>
                  <a:schemeClr val="bg1"/>
                </a:solidFill>
              </a:rPr>
              <a:t>SAMPLER</a:t>
            </a:r>
            <a:endParaRPr kumimoji="1" lang="en-US" altLang="ja-JP" sz="4800" dirty="0">
              <a:solidFill>
                <a:schemeClr val="bg1"/>
              </a:solidFill>
            </a:endParaRPr>
          </a:p>
          <a:p>
            <a:pPr>
              <a:lnSpc>
                <a:spcPct val="125000"/>
              </a:lnSpc>
            </a:pPr>
            <a:r>
              <a:rPr lang="ja-JP" altLang="en-US" sz="4800" dirty="0">
                <a:solidFill>
                  <a:schemeClr val="bg1"/>
                </a:solidFill>
              </a:rPr>
              <a:t>システムレビュー</a:t>
            </a:r>
            <a:endParaRPr kumimoji="1" lang="ja-JP" altLang="en-US" sz="4800" dirty="0">
              <a:solidFill>
                <a:schemeClr val="bg1"/>
              </a:solidFill>
            </a:endParaRP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873066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A49C8E-8679-95F4-A3AC-CE8F3CB34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kumimoji="1" lang="ja-JP" altLang="en-US" dirty="0"/>
              <a:t>直観的思考　豊富な経験を積むことが必要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AAB120C-ADA9-6F34-F296-57967A24E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542" y="1825624"/>
            <a:ext cx="11957538" cy="4786191"/>
          </a:xfrm>
        </p:spPr>
        <p:txBody>
          <a:bodyPr>
            <a:normAutofit lnSpcReduction="10000"/>
          </a:bodyPr>
          <a:lstStyle/>
          <a:p>
            <a:r>
              <a:rPr kumimoji="1" lang="ja-JP" altLang="en-US" dirty="0"/>
              <a:t>ヒューリスティックス</a:t>
            </a:r>
            <a:endParaRPr kumimoji="1" lang="en-US" altLang="ja-JP" dirty="0"/>
          </a:p>
          <a:p>
            <a:r>
              <a:rPr lang="ja-JP" altLang="en-US" dirty="0"/>
              <a:t>問題解決の際に簡略化されたプロセスを経て結論を得る方法</a:t>
            </a:r>
            <a:endParaRPr lang="en-US" altLang="ja-JP" dirty="0"/>
          </a:p>
          <a:p>
            <a:r>
              <a:rPr kumimoji="1" lang="ja-JP" altLang="en-US" dirty="0"/>
              <a:t>必ず正しい結論を導けるわけではないが、結論に至るまでの時間は短縮できる</a:t>
            </a:r>
            <a:endParaRPr kumimoji="1" lang="en-US" altLang="ja-JP" dirty="0"/>
          </a:p>
          <a:p>
            <a:r>
              <a:rPr lang="ja-JP" altLang="en-US" dirty="0"/>
              <a:t>少ない情報で結論に達するシステムで日常でよく用いられる。⇒人によって診断結果に偏りがある</a:t>
            </a:r>
            <a:endParaRPr lang="en-US" altLang="ja-JP" dirty="0"/>
          </a:p>
          <a:p>
            <a:r>
              <a:rPr kumimoji="1" lang="ja-JP" altLang="en-US" dirty="0"/>
              <a:t>クリニカルパール</a:t>
            </a:r>
            <a:endParaRPr kumimoji="1" lang="en-US" altLang="ja-JP" dirty="0"/>
          </a:p>
          <a:p>
            <a:r>
              <a:rPr lang="ja-JP" altLang="en-US" dirty="0"/>
              <a:t>医学的ヒューリスティックの中でも重要なもの。先人たちが残した英知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235399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06FDBD-080C-A3F1-3F31-3A8D1D776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ja-JP" altLang="en-US" dirty="0"/>
              <a:t>直観的思考とバイアス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C1000C4-23C9-16CF-FAA0-5525B7C15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49000" cy="488466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kumimoji="1" lang="ja-JP" altLang="en-US" sz="3800" dirty="0"/>
              <a:t>臨床推論のバイアス</a:t>
            </a:r>
            <a:endParaRPr kumimoji="1" lang="en-US" altLang="ja-JP" sz="3800" dirty="0"/>
          </a:p>
          <a:p>
            <a:r>
              <a:rPr kumimoji="1" lang="ja-JP" altLang="en-US" sz="3800" dirty="0"/>
              <a:t>アベイラビリティバイアス</a:t>
            </a:r>
            <a:endParaRPr kumimoji="1" lang="en-US" altLang="ja-JP" sz="3800" dirty="0"/>
          </a:p>
          <a:p>
            <a:r>
              <a:rPr lang="ja-JP" altLang="en-US" sz="3800" dirty="0"/>
              <a:t>アンカーリングバイアス</a:t>
            </a:r>
            <a:endParaRPr lang="en-US" altLang="ja-JP" sz="3800" dirty="0"/>
          </a:p>
          <a:p>
            <a:r>
              <a:rPr kumimoji="1" lang="ja-JP" altLang="en-US" sz="3800" dirty="0"/>
              <a:t>オーバーコンフィデンスバイアス</a:t>
            </a:r>
            <a:endParaRPr kumimoji="1" lang="en-US" altLang="ja-JP" sz="3800" dirty="0"/>
          </a:p>
          <a:p>
            <a:r>
              <a:rPr lang="ja-JP" altLang="en-US" sz="3800" dirty="0"/>
              <a:t>コンファーメイションバイアス</a:t>
            </a:r>
            <a:endParaRPr lang="en-US" altLang="ja-JP" sz="3800" dirty="0"/>
          </a:p>
          <a:p>
            <a:r>
              <a:rPr lang="ja-JP" altLang="en-US" sz="3800" dirty="0"/>
              <a:t>ハッスルバイアス</a:t>
            </a:r>
            <a:endParaRPr lang="en-US" altLang="ja-JP" sz="3800" dirty="0"/>
          </a:p>
          <a:p>
            <a:r>
              <a:rPr kumimoji="1" lang="ja-JP" altLang="en-US" sz="3800" dirty="0"/>
              <a:t>ルールバイアス</a:t>
            </a:r>
            <a:endParaRPr kumimoji="1" lang="ja-JP" altLang="en-US" dirty="0"/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35594063-1656-442A-92C1-10184E56F1BC}"/>
              </a:ext>
            </a:extLst>
          </p:cNvPr>
          <p:cNvSpPr txBox="1">
            <a:spLocks/>
          </p:cNvSpPr>
          <p:nvPr/>
        </p:nvSpPr>
        <p:spPr>
          <a:xfrm>
            <a:off x="0" y="4568852"/>
            <a:ext cx="12192000" cy="1325563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j-cs"/>
              </a:defRPr>
            </a:lvl1pPr>
          </a:lstStyle>
          <a:p>
            <a:pPr algn="ctr"/>
            <a:r>
              <a:rPr lang="ja-JP" altLang="en-US" dirty="0"/>
              <a:t>バイアスを避ける思考＝分析的思考</a:t>
            </a:r>
          </a:p>
        </p:txBody>
      </p:sp>
    </p:spTree>
    <p:extLst>
      <p:ext uri="{BB962C8B-B14F-4D97-AF65-F5344CB8AC3E}">
        <p14:creationId xmlns:p14="http://schemas.microsoft.com/office/powerpoint/2010/main" val="666215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コンテンツ プレースホルダー 4" descr="テーブル&#10;&#10;自動的に生成された説明">
            <a:extLst>
              <a:ext uri="{FF2B5EF4-FFF2-40B4-BE49-F238E27FC236}">
                <a16:creationId xmlns:a16="http://schemas.microsoft.com/office/drawing/2014/main" id="{B727A43A-7118-72F4-E881-1E9378469F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62138"/>
            <a:ext cx="6821488" cy="4414838"/>
          </a:xfrm>
        </p:spPr>
      </p:pic>
      <p:pic>
        <p:nvPicPr>
          <p:cNvPr id="4" name="図 3" descr="テキスト, QR コード&#10;&#10;自動的に生成された説明">
            <a:extLst>
              <a:ext uri="{FF2B5EF4-FFF2-40B4-BE49-F238E27FC236}">
                <a16:creationId xmlns:a16="http://schemas.microsoft.com/office/drawing/2014/main" id="{5832DDAD-1B66-7EB3-E889-C3D82682F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1125" y="1862138"/>
            <a:ext cx="3619500" cy="4414838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01E95C07-DC61-3803-2F75-9061FA240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z="5200" kern="1200" dirty="0">
                <a:latin typeface="+mj-lt"/>
                <a:ea typeface="+mj-ea"/>
                <a:cs typeface="+mj-cs"/>
              </a:rPr>
              <a:t>分析的思考</a:t>
            </a:r>
          </a:p>
        </p:txBody>
      </p:sp>
    </p:spTree>
    <p:extLst>
      <p:ext uri="{BB962C8B-B14F-4D97-AF65-F5344CB8AC3E}">
        <p14:creationId xmlns:p14="http://schemas.microsoft.com/office/powerpoint/2010/main" val="24539582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6CAE53-FF3D-2B6C-F2BB-925140EF0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kumimoji="1" lang="ja-JP" altLang="en-US" dirty="0"/>
              <a:t>直観的思考と分析的思考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FE000E1-C29B-13F4-52DC-08ECCC54A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60719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sz="3600" dirty="0"/>
              <a:t>直観的思考</a:t>
            </a:r>
            <a:endParaRPr kumimoji="1" lang="en-US" altLang="ja-JP" sz="3600" dirty="0"/>
          </a:p>
          <a:p>
            <a:r>
              <a:rPr lang="ja-JP" altLang="en-US" sz="3600" dirty="0"/>
              <a:t>メリット</a:t>
            </a:r>
            <a:endParaRPr lang="en-US" altLang="ja-JP" sz="3600" dirty="0"/>
          </a:p>
          <a:p>
            <a:pPr marL="0" indent="0">
              <a:buNone/>
            </a:pPr>
            <a:r>
              <a:rPr kumimoji="1" lang="ja-JP" altLang="en-US" sz="3600" dirty="0"/>
              <a:t>  迅速、効率的</a:t>
            </a:r>
            <a:endParaRPr kumimoji="1" lang="en-US" altLang="ja-JP" sz="3600" dirty="0"/>
          </a:p>
          <a:p>
            <a:r>
              <a:rPr lang="ja-JP" altLang="en-US" sz="3600" dirty="0"/>
              <a:t>デメリット</a:t>
            </a:r>
            <a:endParaRPr lang="en-US" altLang="ja-JP" sz="3600" dirty="0"/>
          </a:p>
          <a:p>
            <a:pPr marL="0" indent="0">
              <a:buNone/>
            </a:pPr>
            <a:r>
              <a:rPr kumimoji="1" lang="ja-JP" altLang="en-US" sz="3600" dirty="0"/>
              <a:t>  バイアス</a:t>
            </a:r>
            <a:endParaRPr kumimoji="1" lang="en-US" altLang="ja-JP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32B46A1-B7F4-D38D-B839-5FE3908FB487}"/>
              </a:ext>
            </a:extLst>
          </p:cNvPr>
          <p:cNvSpPr txBox="1"/>
          <p:nvPr/>
        </p:nvSpPr>
        <p:spPr>
          <a:xfrm>
            <a:off x="5659902" y="2022573"/>
            <a:ext cx="6532098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ja-JP" altLang="en-US" sz="36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分析的思考</a:t>
            </a:r>
            <a:endParaRPr lang="en-US" altLang="ja-JP" sz="36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25000"/>
              </a:lnSpc>
            </a:pPr>
            <a:r>
              <a:rPr kumimoji="1" lang="ja-JP" altLang="en-US" sz="36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・メリット</a:t>
            </a:r>
            <a:endParaRPr kumimoji="1" lang="en-US" altLang="ja-JP" sz="36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25000"/>
              </a:lnSpc>
            </a:pPr>
            <a:r>
              <a:rPr lang="ja-JP" altLang="en-US" sz="36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科学的</a:t>
            </a:r>
            <a:endParaRPr lang="en-US" altLang="ja-JP" sz="36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25000"/>
              </a:lnSpc>
            </a:pPr>
            <a:r>
              <a:rPr kumimoji="1" lang="ja-JP" altLang="en-US" sz="36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・デメリット</a:t>
            </a:r>
            <a:endParaRPr kumimoji="1" lang="en-US" altLang="ja-JP" sz="36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25000"/>
              </a:lnSpc>
            </a:pPr>
            <a:r>
              <a:rPr lang="ja-JP" altLang="en-US" sz="36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時間がかかる、非効率的</a:t>
            </a:r>
            <a:endParaRPr kumimoji="1" lang="ja-JP" altLang="en-US" sz="36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962262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F20795-4DBE-7074-DE2D-67065BD08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36496"/>
            <a:ext cx="12192000" cy="1325563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kumimoji="1" lang="en-US" altLang="ja-JP" dirty="0"/>
              <a:t>OPQRST</a:t>
            </a:r>
            <a:r>
              <a:rPr kumimoji="1" lang="ja-JP" altLang="en-US" dirty="0"/>
              <a:t>　現病歴メイン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472961A-D8C0-D744-36EC-6277C0F59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745" y="1884432"/>
            <a:ext cx="11746523" cy="4798329"/>
          </a:xfrm>
        </p:spPr>
        <p:txBody>
          <a:bodyPr>
            <a:normAutofit lnSpcReduction="10000"/>
          </a:bodyPr>
          <a:lstStyle/>
          <a:p>
            <a:r>
              <a:rPr kumimoji="1" lang="en-US" altLang="ja-JP" sz="3600" dirty="0"/>
              <a:t>O</a:t>
            </a:r>
            <a:r>
              <a:rPr kumimoji="1" lang="ja-JP" altLang="en-US" sz="3600" dirty="0"/>
              <a:t>　</a:t>
            </a:r>
            <a:r>
              <a:rPr kumimoji="1" lang="en-US" altLang="ja-JP" sz="3600" dirty="0"/>
              <a:t>Onset:</a:t>
            </a:r>
            <a:r>
              <a:rPr kumimoji="1" lang="ja-JP" altLang="en-US" sz="3600" dirty="0"/>
              <a:t>発症様式</a:t>
            </a:r>
            <a:endParaRPr kumimoji="1" lang="en-US" altLang="ja-JP" sz="3600" dirty="0"/>
          </a:p>
          <a:p>
            <a:r>
              <a:rPr lang="en-US" altLang="ja-JP" sz="3600" dirty="0"/>
              <a:t>P</a:t>
            </a:r>
            <a:r>
              <a:rPr lang="ja-JP" altLang="en-US" sz="3600" dirty="0"/>
              <a:t>　</a:t>
            </a:r>
            <a:r>
              <a:rPr lang="en-US" altLang="ja-JP" sz="3600" dirty="0"/>
              <a:t>Palliative</a:t>
            </a:r>
            <a:r>
              <a:rPr lang="ja-JP" altLang="en-US" sz="3600" dirty="0"/>
              <a:t>＆</a:t>
            </a:r>
            <a:r>
              <a:rPr lang="en-US" altLang="ja-JP" sz="3600" dirty="0"/>
              <a:t>Provocative Factors:</a:t>
            </a:r>
            <a:r>
              <a:rPr lang="ja-JP" altLang="en-US" sz="3600" dirty="0"/>
              <a:t>軽快、増悪因子</a:t>
            </a:r>
            <a:endParaRPr lang="en-US" altLang="ja-JP" sz="3600" dirty="0"/>
          </a:p>
          <a:p>
            <a:r>
              <a:rPr kumimoji="1" lang="en-US" altLang="ja-JP" sz="3600" dirty="0"/>
              <a:t>Q</a:t>
            </a:r>
            <a:r>
              <a:rPr kumimoji="1" lang="ja-JP" altLang="en-US" sz="3600" dirty="0"/>
              <a:t>　</a:t>
            </a:r>
            <a:r>
              <a:rPr kumimoji="1" lang="en-US" altLang="ja-JP" sz="3600" dirty="0"/>
              <a:t>Quality</a:t>
            </a:r>
            <a:r>
              <a:rPr kumimoji="1" lang="ja-JP" altLang="en-US" sz="3600" dirty="0"/>
              <a:t>＆</a:t>
            </a:r>
            <a:r>
              <a:rPr kumimoji="1" lang="en-US" altLang="ja-JP" sz="3600" dirty="0"/>
              <a:t>Quantity:</a:t>
            </a:r>
            <a:r>
              <a:rPr kumimoji="1" lang="ja-JP" altLang="en-US" sz="3600" dirty="0"/>
              <a:t>性質と程度</a:t>
            </a:r>
            <a:endParaRPr kumimoji="1" lang="en-US" altLang="ja-JP" sz="3600" dirty="0"/>
          </a:p>
          <a:p>
            <a:r>
              <a:rPr lang="en-US" altLang="ja-JP" sz="3600" dirty="0"/>
              <a:t>R</a:t>
            </a:r>
            <a:r>
              <a:rPr lang="ja-JP" altLang="en-US" sz="3600" dirty="0"/>
              <a:t>　</a:t>
            </a:r>
            <a:r>
              <a:rPr lang="en-US" altLang="ja-JP" sz="3600" dirty="0"/>
              <a:t>Region</a:t>
            </a:r>
            <a:r>
              <a:rPr lang="ja-JP" altLang="en-US" sz="3600" dirty="0"/>
              <a:t>＆</a:t>
            </a:r>
            <a:r>
              <a:rPr lang="en-US" altLang="ja-JP" sz="3600" dirty="0"/>
              <a:t>Radiation:</a:t>
            </a:r>
            <a:r>
              <a:rPr lang="ja-JP" altLang="en-US" sz="3600" dirty="0"/>
              <a:t>部位と放散</a:t>
            </a:r>
            <a:endParaRPr lang="en-US" altLang="ja-JP" sz="3600" dirty="0"/>
          </a:p>
          <a:p>
            <a:r>
              <a:rPr kumimoji="1" lang="en-US" altLang="ja-JP" sz="3600" dirty="0"/>
              <a:t>S</a:t>
            </a:r>
            <a:r>
              <a:rPr kumimoji="1" lang="ja-JP" altLang="en-US" sz="3600" dirty="0"/>
              <a:t>　</a:t>
            </a:r>
            <a:r>
              <a:rPr kumimoji="1" lang="en-US" altLang="ja-JP" sz="3600" dirty="0"/>
              <a:t>Symptoms/Associated:</a:t>
            </a:r>
            <a:r>
              <a:rPr kumimoji="1" lang="ja-JP" altLang="en-US" sz="3600" dirty="0"/>
              <a:t>随伴症状</a:t>
            </a:r>
            <a:endParaRPr kumimoji="1" lang="en-US" altLang="ja-JP" sz="3600" dirty="0"/>
          </a:p>
          <a:p>
            <a:r>
              <a:rPr lang="en-US" altLang="ja-JP" sz="3600" dirty="0"/>
              <a:t>T</a:t>
            </a:r>
            <a:r>
              <a:rPr lang="ja-JP" altLang="en-US" sz="3600" dirty="0"/>
              <a:t>　</a:t>
            </a:r>
            <a:r>
              <a:rPr lang="en-US" altLang="ja-JP" sz="3600" dirty="0"/>
              <a:t>Time Course:</a:t>
            </a:r>
            <a:r>
              <a:rPr lang="ja-JP" altLang="en-US" sz="3600" dirty="0"/>
              <a:t>時間経過</a:t>
            </a:r>
            <a:endParaRPr kumimoji="1" lang="ja-JP" altLang="en-US" sz="3600" dirty="0"/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FB797E45-7419-3984-5ED3-F4AA7F1C0A9F}"/>
              </a:ext>
            </a:extLst>
          </p:cNvPr>
          <p:cNvCxnSpPr/>
          <p:nvPr/>
        </p:nvCxnSpPr>
        <p:spPr>
          <a:xfrm>
            <a:off x="528711" y="2448899"/>
            <a:ext cx="4033603" cy="0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FEEB4639-1C7C-D987-319D-E311D2D1A3F2}"/>
              </a:ext>
            </a:extLst>
          </p:cNvPr>
          <p:cNvCxnSpPr>
            <a:cxnSpLocks/>
          </p:cNvCxnSpPr>
          <p:nvPr/>
        </p:nvCxnSpPr>
        <p:spPr>
          <a:xfrm>
            <a:off x="528711" y="6231268"/>
            <a:ext cx="5567289" cy="0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452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F20795-4DBE-7074-DE2D-67065BD08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6594"/>
            <a:ext cx="12192000" cy="1325563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ja-JP" altLang="en-US" dirty="0"/>
              <a:t>随伴症状</a:t>
            </a:r>
            <a:endParaRPr kumimoji="1" lang="ja-JP" altLang="en-US" dirty="0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84B97633-AB52-8202-268E-14B282940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445" y="1612156"/>
            <a:ext cx="10817671" cy="4802711"/>
          </a:xfrm>
        </p:spPr>
        <p:txBody>
          <a:bodyPr>
            <a:normAutofit/>
          </a:bodyPr>
          <a:lstStyle/>
          <a:p>
            <a:r>
              <a:rPr lang="ja-JP" altLang="en-US" sz="5400" dirty="0"/>
              <a:t>交感神経</a:t>
            </a:r>
            <a:endParaRPr lang="en-US" altLang="ja-JP" sz="5400" dirty="0"/>
          </a:p>
          <a:p>
            <a:pPr marL="0" indent="0">
              <a:buNone/>
            </a:pPr>
            <a:r>
              <a:rPr lang="ja-JP" altLang="en-US" sz="5400" dirty="0"/>
              <a:t>　冷汗、冷感、動悸など</a:t>
            </a:r>
            <a:endParaRPr lang="en-US" altLang="ja-JP" sz="5400" dirty="0"/>
          </a:p>
          <a:p>
            <a:r>
              <a:rPr lang="ja-JP" altLang="en-US" sz="5400" dirty="0"/>
              <a:t>副交感神経</a:t>
            </a:r>
            <a:endParaRPr lang="en-US" altLang="ja-JP" sz="5400" dirty="0"/>
          </a:p>
          <a:p>
            <a:pPr marL="0" indent="0">
              <a:buNone/>
            </a:pPr>
            <a:r>
              <a:rPr lang="ja-JP" altLang="en-US" sz="5400" dirty="0"/>
              <a:t>　悪心、嘔気、失禁など</a:t>
            </a:r>
            <a:endParaRPr lang="en-US" altLang="ja-JP" sz="5400" dirty="0"/>
          </a:p>
        </p:txBody>
      </p:sp>
    </p:spTree>
    <p:extLst>
      <p:ext uri="{BB962C8B-B14F-4D97-AF65-F5344CB8AC3E}">
        <p14:creationId xmlns:p14="http://schemas.microsoft.com/office/powerpoint/2010/main" val="32755296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F20795-4DBE-7074-DE2D-67065BD08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6594"/>
            <a:ext cx="12192000" cy="1325563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kumimoji="1" lang="ja-JP" altLang="en-US" dirty="0"/>
              <a:t>時間経過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84B97633-AB52-8202-268E-14B282940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098" y="1612156"/>
            <a:ext cx="11493305" cy="5245844"/>
          </a:xfrm>
        </p:spPr>
        <p:txBody>
          <a:bodyPr>
            <a:normAutofit/>
          </a:bodyPr>
          <a:lstStyle/>
          <a:p>
            <a:r>
              <a:rPr lang="ja-JP" altLang="en-US" sz="3600" dirty="0"/>
              <a:t>間欠的</a:t>
            </a:r>
            <a:r>
              <a:rPr lang="en-US" altLang="ja-JP" sz="3600" dirty="0"/>
              <a:t>vs</a:t>
            </a:r>
            <a:r>
              <a:rPr lang="ja-JP" altLang="en-US" sz="3600" dirty="0"/>
              <a:t>持続的</a:t>
            </a:r>
            <a:endParaRPr lang="en-US" altLang="ja-JP" sz="3600" dirty="0"/>
          </a:p>
          <a:p>
            <a:r>
              <a:rPr lang="ja-JP" altLang="en-US" sz="3600" dirty="0"/>
              <a:t>軽快傾向</a:t>
            </a:r>
            <a:r>
              <a:rPr lang="en-US" altLang="ja-JP" sz="3600" dirty="0"/>
              <a:t>vs</a:t>
            </a:r>
            <a:r>
              <a:rPr lang="ja-JP" altLang="en-US" sz="3600" dirty="0"/>
              <a:t>増悪傾向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　⇒持続、増悪は重症度、緊急度が高い可能性</a:t>
            </a:r>
            <a:r>
              <a:rPr lang="ja-JP" altLang="en-US" sz="3600"/>
              <a:t>がある</a:t>
            </a:r>
            <a:endParaRPr lang="en-US" altLang="ja-JP" sz="3600" dirty="0"/>
          </a:p>
          <a:p>
            <a:r>
              <a:rPr lang="ja-JP" altLang="en-US" sz="3600" dirty="0"/>
              <a:t>持続するとは、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　繰り返す、再発することも含む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「一時も症状はなくならなかったですか？」</a:t>
            </a:r>
            <a:endParaRPr lang="en-US" altLang="ja-JP" sz="3600" dirty="0"/>
          </a:p>
        </p:txBody>
      </p:sp>
    </p:spTree>
    <p:extLst>
      <p:ext uri="{BB962C8B-B14F-4D97-AF65-F5344CB8AC3E}">
        <p14:creationId xmlns:p14="http://schemas.microsoft.com/office/powerpoint/2010/main" val="26721710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257870-AFB4-E4CE-2129-83AE0BBFA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kumimoji="1" lang="en-US" altLang="ja-JP" dirty="0"/>
              <a:t>SAMPLER</a:t>
            </a:r>
            <a:r>
              <a:rPr kumimoji="1" lang="ja-JP" altLang="en-US" dirty="0"/>
              <a:t>　既往歴メイン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D62D595-889E-9A7D-8158-48CDF9A27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656" y="1709996"/>
            <a:ext cx="11193732" cy="5014361"/>
          </a:xfrm>
        </p:spPr>
        <p:txBody>
          <a:bodyPr>
            <a:normAutofit lnSpcReduction="10000"/>
          </a:bodyPr>
          <a:lstStyle/>
          <a:p>
            <a:r>
              <a:rPr kumimoji="1" lang="en-US" altLang="ja-JP" sz="4000" dirty="0"/>
              <a:t>S</a:t>
            </a:r>
            <a:r>
              <a:rPr kumimoji="1" lang="ja-JP" altLang="en-US" sz="4000" dirty="0"/>
              <a:t>　</a:t>
            </a:r>
            <a:r>
              <a:rPr kumimoji="1" lang="en-US" altLang="ja-JP" sz="4000" dirty="0"/>
              <a:t>Sign</a:t>
            </a:r>
            <a:r>
              <a:rPr kumimoji="1" lang="ja-JP" altLang="en-US" sz="4000" dirty="0"/>
              <a:t>＆</a:t>
            </a:r>
            <a:r>
              <a:rPr kumimoji="1" lang="en-US" altLang="ja-JP" sz="4000" dirty="0"/>
              <a:t>symptom:</a:t>
            </a:r>
            <a:r>
              <a:rPr kumimoji="1" lang="ja-JP" altLang="en-US" sz="4000" dirty="0"/>
              <a:t>主訴</a:t>
            </a:r>
            <a:endParaRPr kumimoji="1" lang="en-US" altLang="ja-JP" sz="4000" dirty="0"/>
          </a:p>
          <a:p>
            <a:r>
              <a:rPr lang="en-US" altLang="ja-JP" sz="4000" dirty="0"/>
              <a:t>A</a:t>
            </a:r>
            <a:r>
              <a:rPr lang="ja-JP" altLang="en-US" sz="4000" dirty="0"/>
              <a:t>　</a:t>
            </a:r>
            <a:r>
              <a:rPr lang="en-US" altLang="ja-JP" sz="4000" dirty="0"/>
              <a:t>Allergy:</a:t>
            </a:r>
            <a:r>
              <a:rPr lang="ja-JP" altLang="en-US" sz="4000" dirty="0"/>
              <a:t>アレルギー</a:t>
            </a:r>
            <a:endParaRPr lang="en-US" altLang="ja-JP" sz="4000" dirty="0"/>
          </a:p>
          <a:p>
            <a:r>
              <a:rPr kumimoji="1" lang="en-US" altLang="ja-JP" sz="4000" dirty="0"/>
              <a:t>M  Medication:</a:t>
            </a:r>
            <a:r>
              <a:rPr kumimoji="1" lang="ja-JP" altLang="en-US" sz="4000" dirty="0"/>
              <a:t>内服</a:t>
            </a:r>
            <a:endParaRPr kumimoji="1" lang="en-US" altLang="ja-JP" sz="4000" dirty="0"/>
          </a:p>
          <a:p>
            <a:r>
              <a:rPr lang="en-US" altLang="ja-JP" sz="4000" dirty="0"/>
              <a:t>P</a:t>
            </a:r>
            <a:r>
              <a:rPr lang="ja-JP" altLang="en-US" sz="4000" dirty="0"/>
              <a:t>　</a:t>
            </a:r>
            <a:r>
              <a:rPr lang="en-US" altLang="ja-JP" sz="4000" dirty="0"/>
              <a:t>Past medical history:</a:t>
            </a:r>
            <a:r>
              <a:rPr lang="ja-JP" altLang="en-US" sz="4000" dirty="0"/>
              <a:t>既往歴</a:t>
            </a:r>
            <a:endParaRPr lang="en-US" altLang="ja-JP" sz="4000" dirty="0"/>
          </a:p>
          <a:p>
            <a:r>
              <a:rPr kumimoji="1" lang="en-US" altLang="ja-JP" sz="4000" dirty="0"/>
              <a:t>L</a:t>
            </a:r>
            <a:r>
              <a:rPr kumimoji="1" lang="ja-JP" altLang="en-US" sz="4000" dirty="0"/>
              <a:t>　</a:t>
            </a:r>
            <a:r>
              <a:rPr kumimoji="1" lang="en-US" altLang="ja-JP" sz="4000" dirty="0"/>
              <a:t>Last meal:</a:t>
            </a:r>
            <a:r>
              <a:rPr lang="ja-JP" altLang="en-US" sz="4000" dirty="0"/>
              <a:t>最終食事</a:t>
            </a:r>
            <a:endParaRPr lang="en-US" altLang="ja-JP" sz="4000" dirty="0"/>
          </a:p>
          <a:p>
            <a:r>
              <a:rPr kumimoji="1" lang="en-US" altLang="ja-JP" sz="4000" dirty="0"/>
              <a:t>R</a:t>
            </a:r>
            <a:r>
              <a:rPr kumimoji="1" lang="ja-JP" altLang="en-US" sz="4000" dirty="0"/>
              <a:t>　</a:t>
            </a:r>
            <a:r>
              <a:rPr kumimoji="1" lang="en-US" altLang="ja-JP" sz="4000" dirty="0"/>
              <a:t>Risk factor:</a:t>
            </a:r>
            <a:r>
              <a:rPr kumimoji="1" lang="ja-JP" altLang="en-US" sz="4000" dirty="0"/>
              <a:t>危険因子</a:t>
            </a:r>
          </a:p>
        </p:txBody>
      </p:sp>
    </p:spTree>
    <p:extLst>
      <p:ext uri="{BB962C8B-B14F-4D97-AF65-F5344CB8AC3E}">
        <p14:creationId xmlns:p14="http://schemas.microsoft.com/office/powerpoint/2010/main" val="768289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785</TotalTime>
  <Words>900</Words>
  <Application>Microsoft Office PowerPoint</Application>
  <PresentationFormat>ワイド画面</PresentationFormat>
  <Paragraphs>160</Paragraphs>
  <Slides>26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26</vt:i4>
      </vt:variant>
    </vt:vector>
  </HeadingPairs>
  <TitlesOfParts>
    <vt:vector size="32" baseType="lpstr">
      <vt:lpstr>メイリオ</vt:lpstr>
      <vt:lpstr>游ゴシック</vt:lpstr>
      <vt:lpstr>游ゴシック Light</vt:lpstr>
      <vt:lpstr>Arial</vt:lpstr>
      <vt:lpstr>Office テーマ</vt:lpstr>
      <vt:lpstr>デザインの設定</vt:lpstr>
      <vt:lpstr>救急臨床推論</vt:lpstr>
      <vt:lpstr>自己受診と救急要請</vt:lpstr>
      <vt:lpstr>重症度と緊急度</vt:lpstr>
      <vt:lpstr>救急隊　救急救命士に求められること</vt:lpstr>
      <vt:lpstr>オーバートリアージとアンダートリアージ</vt:lpstr>
      <vt:lpstr>緊急度分類</vt:lpstr>
      <vt:lpstr>救急救命士に求められること</vt:lpstr>
      <vt:lpstr>救急救命士に求められること</vt:lpstr>
      <vt:lpstr>救急救命士のやること</vt:lpstr>
      <vt:lpstr>救急救命士のやること</vt:lpstr>
      <vt:lpstr>救急救命士のやること</vt:lpstr>
      <vt:lpstr>救急医療体制と救急救命士</vt:lpstr>
      <vt:lpstr>救急医療体制と救急救命士</vt:lpstr>
      <vt:lpstr>今後の救急救命士に求められること</vt:lpstr>
      <vt:lpstr>救急救命士に求められること</vt:lpstr>
      <vt:lpstr>病院前救護の標準化</vt:lpstr>
      <vt:lpstr>臨床推論</vt:lpstr>
      <vt:lpstr>臨床推論の総論</vt:lpstr>
      <vt:lpstr>直観的思考　豊富な経験を積むことが必要</vt:lpstr>
      <vt:lpstr>直観的思考とバイアス</vt:lpstr>
      <vt:lpstr>分析的思考</vt:lpstr>
      <vt:lpstr>直観的思考と分析的思考</vt:lpstr>
      <vt:lpstr>OPQRST　現病歴メイン</vt:lpstr>
      <vt:lpstr>随伴症状</vt:lpstr>
      <vt:lpstr>時間経過</vt:lpstr>
      <vt:lpstr>SAMPLER　既往歴メイン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救急臨床推論</dc:title>
  <dc:creator>中村　哲久</dc:creator>
  <cp:lastModifiedBy>哲久 中村</cp:lastModifiedBy>
  <cp:revision>10</cp:revision>
  <dcterms:created xsi:type="dcterms:W3CDTF">2023-09-18T07:40:21Z</dcterms:created>
  <dcterms:modified xsi:type="dcterms:W3CDTF">2026-03-14T12:30:50Z</dcterms:modified>
</cp:coreProperties>
</file>